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mbria Bold" charset="1" panose="02040803050406030204"/>
      <p:regular r:id="rId22"/>
    </p:embeddedFont>
    <p:embeddedFont>
      <p:font typeface="Cambria Italics" charset="1" panose="020405030504060A0204"/>
      <p:regular r:id="rId23"/>
    </p:embeddedFont>
    <p:embeddedFont>
      <p:font typeface="Calibri (MS)" charset="1" panose="020F0502020204030204"/>
      <p:regular r:id="rId24"/>
    </p:embeddedFont>
    <p:embeddedFont>
      <p:font typeface="Calibri (MS) Italics" charset="1" panose="020F05020202040A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https://campusvirtual.duoc.cl/ultra/courses/_742189_1/outline/roster/edit/_24051220_1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38960" y="-2194560"/>
            <a:ext cx="7132320" cy="7132320"/>
            <a:chOff x="0" y="0"/>
            <a:chExt cx="9509760" cy="9509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09760" cy="9509760"/>
            </a:xfrm>
            <a:custGeom>
              <a:avLst/>
              <a:gdLst/>
              <a:ahLst/>
              <a:cxnLst/>
              <a:rect r="r" b="b" t="t" l="l"/>
              <a:pathLst>
                <a:path h="9509760" w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065A82">
                <a:alpha val="3568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322040" y="6309360"/>
            <a:ext cx="4389120" cy="4389120"/>
            <a:chOff x="0" y="0"/>
            <a:chExt cx="5852160" cy="5852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2160" cy="5852160"/>
            </a:xfrm>
            <a:custGeom>
              <a:avLst/>
              <a:gdLst/>
              <a:ahLst/>
              <a:cxnLst/>
              <a:rect r="r" b="b" t="t" l="l"/>
              <a:pathLst>
                <a:path h="5852160" w="5852160">
                  <a:moveTo>
                    <a:pt x="0" y="2926080"/>
                  </a:moveTo>
                  <a:cubicBezTo>
                    <a:pt x="0" y="1310005"/>
                    <a:pt x="1310005" y="0"/>
                    <a:pt x="2926080" y="0"/>
                  </a:cubicBezTo>
                  <a:cubicBezTo>
                    <a:pt x="4542155" y="0"/>
                    <a:pt x="5852160" y="1310005"/>
                    <a:pt x="5852160" y="2926080"/>
                  </a:cubicBezTo>
                  <a:cubicBezTo>
                    <a:pt x="5852160" y="4542155"/>
                    <a:pt x="4542155" y="5852160"/>
                    <a:pt x="2926080" y="5852160"/>
                  </a:cubicBezTo>
                  <a:cubicBezTo>
                    <a:pt x="1310005" y="5852160"/>
                    <a:pt x="0" y="4542155"/>
                    <a:pt x="0" y="2926080"/>
                  </a:cubicBezTo>
                  <a:close/>
                </a:path>
              </a:pathLst>
            </a:custGeom>
            <a:solidFill>
              <a:srgbClr val="1C7293">
                <a:alpha val="4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645920" y="7680960"/>
            <a:ext cx="4663440" cy="4663440"/>
            <a:chOff x="0" y="0"/>
            <a:chExt cx="6217920" cy="6217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17920" cy="6217920"/>
            </a:xfrm>
            <a:custGeom>
              <a:avLst/>
              <a:gdLst/>
              <a:ahLst/>
              <a:cxnLst/>
              <a:rect r="r" b="b" t="t" l="l"/>
              <a:pathLst>
                <a:path h="6217920" w="6217920">
                  <a:moveTo>
                    <a:pt x="0" y="3108960"/>
                  </a:moveTo>
                  <a:cubicBezTo>
                    <a:pt x="0" y="1391920"/>
                    <a:pt x="1391920" y="0"/>
                    <a:pt x="3108960" y="0"/>
                  </a:cubicBezTo>
                  <a:cubicBezTo>
                    <a:pt x="4826000" y="0"/>
                    <a:pt x="6217920" y="1391920"/>
                    <a:pt x="6217920" y="3108960"/>
                  </a:cubicBezTo>
                  <a:cubicBezTo>
                    <a:pt x="6217920" y="4826000"/>
                    <a:pt x="4826000" y="6217920"/>
                    <a:pt x="3108960" y="6217920"/>
                  </a:cubicBezTo>
                  <a:cubicBezTo>
                    <a:pt x="1391920" y="6217920"/>
                    <a:pt x="0" y="4826000"/>
                    <a:pt x="0" y="3108960"/>
                  </a:cubicBezTo>
                  <a:close/>
                </a:path>
              </a:pathLst>
            </a:custGeom>
            <a:solidFill>
              <a:srgbClr val="065A82">
                <a:alpha val="20000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400300"/>
            <a:ext cx="12344400" cy="548640"/>
            <a:chOff x="0" y="0"/>
            <a:chExt cx="16459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5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459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PRESENTACIÓN DE PROYECTO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860" y="3017520"/>
            <a:ext cx="14401800" cy="1783080"/>
            <a:chOff x="0" y="0"/>
            <a:chExt cx="19202400" cy="23774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024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379" r="0" b="-107379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9202400" cy="2377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360"/>
                </a:lnSpc>
              </a:pPr>
              <a:r>
                <a:rPr lang="en-US" sz="7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Financial Beacon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34440" y="4594860"/>
            <a:ext cx="13716000" cy="891540"/>
            <a:chOff x="0" y="0"/>
            <a:chExt cx="18288000" cy="1188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82880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i="true">
                  <a:solidFill>
                    <a:srgbClr val="BFE0EE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Faro Financiero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1205861" y="5663568"/>
            <a:ext cx="2800355" cy="0"/>
          </a:xfrm>
          <a:prstGeom prst="line">
            <a:avLst/>
          </a:prstGeom>
          <a:ln cap="rnd" w="28575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34440" y="6103620"/>
            <a:ext cx="7543800" cy="411480"/>
            <a:chOff x="0" y="0"/>
            <a:chExt cx="1005840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058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INTEGRANTE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34440" y="6473952"/>
            <a:ext cx="7543800" cy="548640"/>
            <a:chOff x="0" y="0"/>
            <a:chExt cx="1005840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058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0058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Pablo Pizarro Navia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34440" y="7269480"/>
            <a:ext cx="7543800" cy="411480"/>
            <a:chOff x="0" y="0"/>
            <a:chExt cx="1005840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058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ASIGNATURA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4440" y="7639812"/>
            <a:ext cx="10972800" cy="548640"/>
            <a:chOff x="0" y="0"/>
            <a:chExt cx="1463040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46304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Capstone </a:t>
              </a: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— Ingeniería en Informática Duoc UC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4440" y="8435340"/>
            <a:ext cx="7543800" cy="411480"/>
            <a:chOff x="0" y="0"/>
            <a:chExt cx="10058400" cy="548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058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DOCENTE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34440" y="8805672"/>
            <a:ext cx="10972800" cy="796723"/>
            <a:chOff x="0" y="0"/>
            <a:chExt cx="14630400" cy="10622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30400" cy="1062298"/>
            </a:xfrm>
            <a:custGeom>
              <a:avLst/>
              <a:gdLst/>
              <a:ahLst/>
              <a:cxnLst/>
              <a:rect r="r" b="b" t="t" l="l"/>
              <a:pathLst>
                <a:path h="1062298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062298"/>
                  </a:lnTo>
                  <a:lnTo>
                    <a:pt x="0" y="1062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24" r="0" b="-20278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4630400" cy="11194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  <a:hlinkClick r:id="rId4" tooltip="https://campusvirtual.duoc.cl/ultra/courses/_742189_1/outline/roster/edit/_24051220_1"/>
                </a:rPr>
                <a:t>Cindy Betzabé Contador Ci</a:t>
              </a:r>
              <a:r>
                <a:rPr lang="en-US" sz="225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sterna</a:t>
              </a:r>
            </a:p>
            <a:p>
              <a:pPr algn="l">
                <a:lnSpc>
                  <a:spcPts val="2700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 · PROBLEMÁTICA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¿Qué problema se busca solucionar?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22195"/>
            <a:ext cx="16615410" cy="2419350"/>
            <a:chOff x="0" y="0"/>
            <a:chExt cx="22153880" cy="3225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53880" cy="3225800"/>
            </a:xfrm>
            <a:custGeom>
              <a:avLst/>
              <a:gdLst/>
              <a:ahLst/>
              <a:cxnLst/>
              <a:rect r="r" b="b" t="t" l="l"/>
              <a:pathLst>
                <a:path h="3225800" w="221538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21969603" y="0"/>
                  </a:lnTo>
                  <a:cubicBezTo>
                    <a:pt x="22071457" y="0"/>
                    <a:pt x="22153880" y="82550"/>
                    <a:pt x="22153880" y="184277"/>
                  </a:cubicBezTo>
                  <a:lnTo>
                    <a:pt x="22153880" y="3041523"/>
                  </a:lnTo>
                  <a:cubicBezTo>
                    <a:pt x="22153880" y="3143377"/>
                    <a:pt x="22071330" y="3225800"/>
                    <a:pt x="21969603" y="3225800"/>
                  </a:cubicBezTo>
                  <a:lnTo>
                    <a:pt x="184277" y="3225800"/>
                  </a:lnTo>
                  <a:cubicBezTo>
                    <a:pt x="82550" y="3225800"/>
                    <a:pt x="0" y="3143250"/>
                    <a:pt x="0" y="3041523"/>
                  </a:cubicBezTo>
                  <a:close/>
                </a:path>
              </a:pathLst>
            </a:custGeom>
            <a:solidFill>
              <a:srgbClr val="E8F1F5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537460"/>
            <a:ext cx="5486400" cy="411480"/>
            <a:chOff x="0" y="0"/>
            <a:chExt cx="7315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73152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EL PROBLEMA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2990088"/>
            <a:ext cx="15636240" cy="1577340"/>
            <a:chOff x="0" y="0"/>
            <a:chExt cx="20848320" cy="21031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4832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156" r="0" b="-14315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84832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Los trabajadores con ingresos variables no cuentan con herramientas financieras adaptadas a su realidad. Muchos creen que sus deudas son impagables, cuando en realidad no tienen visibilidad real de sus gastos hormiga ni del dinero que podrían ahorrar.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3435" y="4996815"/>
            <a:ext cx="8111490" cy="4339590"/>
            <a:chOff x="0" y="0"/>
            <a:chExt cx="10815320" cy="5786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15320" cy="5786120"/>
            </a:xfrm>
            <a:custGeom>
              <a:avLst/>
              <a:gdLst/>
              <a:ahLst/>
              <a:cxnLst/>
              <a:rect r="r" b="b" t="t" l="l"/>
              <a:pathLst>
                <a:path h="5786120" w="10815320">
                  <a:moveTo>
                    <a:pt x="0" y="183769"/>
                  </a:moveTo>
                  <a:cubicBezTo>
                    <a:pt x="0" y="82296"/>
                    <a:pt x="82296" y="0"/>
                    <a:pt x="183769" y="0"/>
                  </a:cubicBezTo>
                  <a:lnTo>
                    <a:pt x="10631551" y="0"/>
                  </a:lnTo>
                  <a:cubicBezTo>
                    <a:pt x="10733024" y="0"/>
                    <a:pt x="10815320" y="82296"/>
                    <a:pt x="10815320" y="183769"/>
                  </a:cubicBezTo>
                  <a:lnTo>
                    <a:pt x="10815320" y="5602351"/>
                  </a:lnTo>
                  <a:cubicBezTo>
                    <a:pt x="10815320" y="5703824"/>
                    <a:pt x="10733024" y="5786120"/>
                    <a:pt x="10631551" y="5786120"/>
                  </a:cubicBezTo>
                  <a:lnTo>
                    <a:pt x="183769" y="5786120"/>
                  </a:lnTo>
                  <a:cubicBezTo>
                    <a:pt x="82296" y="5786120"/>
                    <a:pt x="0" y="5703824"/>
                    <a:pt x="0" y="560235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03020" y="5280660"/>
            <a:ext cx="7132320" cy="411480"/>
            <a:chOff x="0" y="0"/>
            <a:chExt cx="9509760" cy="548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9509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03020" y="5760720"/>
            <a:ext cx="7132320" cy="3291840"/>
            <a:chOff x="0" y="0"/>
            <a:chExt cx="9509760" cy="4389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097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9509760" cy="4427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problema se sitúa en Chile, donde crece de forma sostenida la fuerza laboral independiente (freelancers, apps de transporte y delivery, trabajos sin contrato). Esta fuerza laboral vive con incertidumbre económica al no tener un sueldo fijo mensual, lo que dificulta planificar gastos y ahorro.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326880" y="5006340"/>
            <a:ext cx="8092440" cy="4320540"/>
            <a:chOff x="0" y="0"/>
            <a:chExt cx="10789920" cy="57607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5760720"/>
            </a:xfrm>
            <a:custGeom>
              <a:avLst/>
              <a:gdLst/>
              <a:ahLst/>
              <a:cxnLst/>
              <a:rect r="r" b="b" t="t" l="l"/>
              <a:pathLst>
                <a:path h="5760720" w="10789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607040" y="0"/>
                  </a:lnTo>
                  <a:cubicBezTo>
                    <a:pt x="10708005" y="0"/>
                    <a:pt x="10789920" y="81915"/>
                    <a:pt x="10789920" y="182880"/>
                  </a:cubicBezTo>
                  <a:lnTo>
                    <a:pt x="10789920" y="5577840"/>
                  </a:lnTo>
                  <a:cubicBezTo>
                    <a:pt x="10789920" y="5678805"/>
                    <a:pt x="10708005" y="5760720"/>
                    <a:pt x="10607040" y="5760720"/>
                  </a:cubicBezTo>
                  <a:lnTo>
                    <a:pt x="182880" y="5760720"/>
                  </a:lnTo>
                  <a:cubicBezTo>
                    <a:pt x="81915" y="5760720"/>
                    <a:pt x="0" y="5678805"/>
                    <a:pt x="0" y="557784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806940" y="5280660"/>
            <a:ext cx="7132320" cy="411480"/>
            <a:chOff x="0" y="0"/>
            <a:chExt cx="9509760" cy="548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09760" cy="548640"/>
            </a:xfrm>
            <a:custGeom>
              <a:avLst/>
              <a:gdLst/>
              <a:ahLst/>
              <a:cxnLst/>
              <a:rect r="r" b="b" t="t" l="l"/>
              <a:pathLst>
                <a:path h="54864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950976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USUARIOS AFECTADOS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806940" y="5829300"/>
            <a:ext cx="7132320" cy="3291840"/>
            <a:chOff x="0" y="0"/>
            <a:chExt cx="9509760" cy="4389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4389120"/>
            </a:xfrm>
            <a:custGeom>
              <a:avLst/>
              <a:gdLst/>
              <a:ahLst/>
              <a:cxnLst/>
              <a:rect r="r" b="b" t="t" l="l"/>
              <a:pathLst>
                <a:path h="438912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17" t="0" r="-921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509760" cy="4436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Oficinistas con comisiones variables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Freelancers y trabajadores por proyecto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Conductores y repartidores de apps</a:t>
              </a:r>
            </a:p>
            <a:p>
              <a:pPr algn="l" marL="352901" indent="-176451" lvl="1">
                <a:lnSpc>
                  <a:spcPts val="2340"/>
                </a:lnSpc>
                <a:buFont typeface="Arial"/>
                <a:buChar char="•"/>
              </a:pPr>
              <a:r>
                <a:rPr lang="en-US" sz="1950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Trabajadores sin contrato formal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 · SOLUCIÓN PROPUESTA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Financial Beacon: la solución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22195"/>
            <a:ext cx="16615410" cy="2213610"/>
            <a:chOff x="0" y="0"/>
            <a:chExt cx="22153880" cy="2951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53880" cy="2951480"/>
            </a:xfrm>
            <a:custGeom>
              <a:avLst/>
              <a:gdLst/>
              <a:ahLst/>
              <a:cxnLst/>
              <a:rect r="r" b="b" t="t" l="l"/>
              <a:pathLst>
                <a:path h="2951480" w="2215388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21969476" y="0"/>
                  </a:lnTo>
                  <a:cubicBezTo>
                    <a:pt x="22071330" y="0"/>
                    <a:pt x="22153880" y="82550"/>
                    <a:pt x="22153880" y="184404"/>
                  </a:cubicBezTo>
                  <a:lnTo>
                    <a:pt x="22153880" y="2767076"/>
                  </a:lnTo>
                  <a:cubicBezTo>
                    <a:pt x="22153880" y="2868930"/>
                    <a:pt x="22071330" y="2951480"/>
                    <a:pt x="21969476" y="2951480"/>
                  </a:cubicBezTo>
                  <a:lnTo>
                    <a:pt x="184404" y="2951480"/>
                  </a:lnTo>
                  <a:cubicBezTo>
                    <a:pt x="82550" y="2951480"/>
                    <a:pt x="0" y="2868930"/>
                    <a:pt x="0" y="2767076"/>
                  </a:cubicBezTo>
                  <a:close/>
                </a:path>
              </a:pathLst>
            </a:custGeom>
            <a:solidFill>
              <a:srgbClr val="E8F1F5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537460"/>
            <a:ext cx="8229600" cy="411480"/>
            <a:chOff x="0" y="0"/>
            <a:chExt cx="109728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09728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DESCRIPCIÓN DE LA SOLUCIÓN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2990088"/>
            <a:ext cx="15636240" cy="1371600"/>
            <a:chOff x="0" y="0"/>
            <a:chExt cx="2084832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848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08483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Aplicación web/móvil que permite a trabajadores de ingresos variables registrar sueldos y gastos, visualizar su estado financiero en informes simples y recibir recomendaciones para ahorrar y pagar deudas de forma controlada.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22960" y="4869180"/>
            <a:ext cx="10972800" cy="411480"/>
            <a:chOff x="0" y="0"/>
            <a:chExt cx="1463040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¿CÓMO MEJORA LA PROBLEMÁTICA?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5349240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965" r="0" b="-21196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212848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 educación financiera gratuita mediante tecnología predictiva: al hacer visibles los gastos hormiga y cruzar ingresos con deudas, el usuario puede tomar decisiones informadas en vez de asumir que sus deudas son impagables.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3435" y="6779895"/>
            <a:ext cx="4065270" cy="2350770"/>
            <a:chOff x="0" y="0"/>
            <a:chExt cx="5420360" cy="31343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20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542036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235956" y="0"/>
                  </a:lnTo>
                  <a:cubicBezTo>
                    <a:pt x="5337810" y="0"/>
                    <a:pt x="5420360" y="82550"/>
                    <a:pt x="5420360" y="184404"/>
                  </a:cubicBezTo>
                  <a:lnTo>
                    <a:pt x="5420360" y="2949956"/>
                  </a:lnTo>
                  <a:cubicBezTo>
                    <a:pt x="5420360" y="3051810"/>
                    <a:pt x="5337810" y="3134360"/>
                    <a:pt x="5235956" y="3134360"/>
                  </a:cubicBezTo>
                  <a:lnTo>
                    <a:pt x="184404" y="3134360"/>
                  </a:lnTo>
                  <a:cubicBezTo>
                    <a:pt x="82550" y="3134360"/>
                    <a:pt x="0" y="3051810"/>
                    <a:pt x="0" y="294995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65860" y="7132320"/>
            <a:ext cx="548640" cy="548640"/>
            <a:chOff x="0" y="0"/>
            <a:chExt cx="731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65860" y="7845552"/>
            <a:ext cx="3360420" cy="548640"/>
            <a:chOff x="0" y="0"/>
            <a:chExt cx="448056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4480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Perfil y sueldo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65860" y="8366760"/>
            <a:ext cx="3360420" cy="685800"/>
            <a:chOff x="0" y="0"/>
            <a:chExt cx="448056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480560" cy="914400"/>
            </a:xfrm>
            <a:custGeom>
              <a:avLst/>
              <a:gdLst/>
              <a:ahLst/>
              <a:cxnLst/>
              <a:rect r="r" b="b" t="t" l="l"/>
              <a:pathLst>
                <a:path h="9144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44805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y registro de ingreso mensual actualizable.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037963" y="6779895"/>
            <a:ext cx="4065270" cy="2350770"/>
            <a:chOff x="0" y="0"/>
            <a:chExt cx="5420360" cy="3134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20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542036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235956" y="0"/>
                  </a:lnTo>
                  <a:cubicBezTo>
                    <a:pt x="5337810" y="0"/>
                    <a:pt x="5420360" y="82550"/>
                    <a:pt x="5420360" y="184404"/>
                  </a:cubicBezTo>
                  <a:lnTo>
                    <a:pt x="5420360" y="2949956"/>
                  </a:lnTo>
                  <a:cubicBezTo>
                    <a:pt x="5420360" y="3051810"/>
                    <a:pt x="5337810" y="3134360"/>
                    <a:pt x="5235956" y="3134360"/>
                  </a:cubicBezTo>
                  <a:lnTo>
                    <a:pt x="184404" y="3134360"/>
                  </a:lnTo>
                  <a:cubicBezTo>
                    <a:pt x="82550" y="3134360"/>
                    <a:pt x="0" y="3051810"/>
                    <a:pt x="0" y="294995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390388" y="7132320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390388" y="7845552"/>
            <a:ext cx="3360420" cy="548640"/>
            <a:chOff x="0" y="0"/>
            <a:chExt cx="448056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480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Registro de gastos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390388" y="8366760"/>
            <a:ext cx="3360420" cy="685800"/>
            <a:chOff x="0" y="0"/>
            <a:chExt cx="4480560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480560" cy="914400"/>
            </a:xfrm>
            <a:custGeom>
              <a:avLst/>
              <a:gdLst/>
              <a:ahLst/>
              <a:cxnLst/>
              <a:rect r="r" b="b" t="t" l="l"/>
              <a:pathLst>
                <a:path h="9144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4805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Gastos fijos, variables y gastos hormiga.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262491" y="6779895"/>
            <a:ext cx="4065270" cy="2350770"/>
            <a:chOff x="0" y="0"/>
            <a:chExt cx="5420360" cy="313436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420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542036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235956" y="0"/>
                  </a:lnTo>
                  <a:cubicBezTo>
                    <a:pt x="5337810" y="0"/>
                    <a:pt x="5420360" y="82550"/>
                    <a:pt x="5420360" y="184404"/>
                  </a:cubicBezTo>
                  <a:lnTo>
                    <a:pt x="5420360" y="2949956"/>
                  </a:lnTo>
                  <a:cubicBezTo>
                    <a:pt x="5420360" y="3051810"/>
                    <a:pt x="5337810" y="3134360"/>
                    <a:pt x="5235956" y="3134360"/>
                  </a:cubicBezTo>
                  <a:lnTo>
                    <a:pt x="184404" y="3134360"/>
                  </a:lnTo>
                  <a:cubicBezTo>
                    <a:pt x="82550" y="3134360"/>
                    <a:pt x="0" y="3051810"/>
                    <a:pt x="0" y="294995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614916" y="7132320"/>
            <a:ext cx="548640" cy="548640"/>
            <a:chOff x="0" y="0"/>
            <a:chExt cx="7315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614916" y="7845552"/>
            <a:ext cx="3360420" cy="548640"/>
            <a:chOff x="0" y="0"/>
            <a:chExt cx="4480560" cy="7315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4480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Informe visual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14916" y="8366760"/>
            <a:ext cx="3360420" cy="685800"/>
            <a:chOff x="0" y="0"/>
            <a:chExt cx="448056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480560" cy="914400"/>
            </a:xfrm>
            <a:custGeom>
              <a:avLst/>
              <a:gdLst/>
              <a:ahLst/>
              <a:cxnLst/>
              <a:rect r="r" b="b" t="t" l="l"/>
              <a:pathLst>
                <a:path h="9144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4805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Estado financiero y ahorro potencial.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487019" y="6779895"/>
            <a:ext cx="4065270" cy="2350770"/>
            <a:chOff x="0" y="0"/>
            <a:chExt cx="5420360" cy="3134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420360" cy="3134360"/>
            </a:xfrm>
            <a:custGeom>
              <a:avLst/>
              <a:gdLst/>
              <a:ahLst/>
              <a:cxnLst/>
              <a:rect r="r" b="b" t="t" l="l"/>
              <a:pathLst>
                <a:path h="3134360" w="5420360">
                  <a:moveTo>
                    <a:pt x="0" y="184404"/>
                  </a:moveTo>
                  <a:cubicBezTo>
                    <a:pt x="0" y="82550"/>
                    <a:pt x="82550" y="0"/>
                    <a:pt x="184404" y="0"/>
                  </a:cubicBezTo>
                  <a:lnTo>
                    <a:pt x="5235956" y="0"/>
                  </a:lnTo>
                  <a:cubicBezTo>
                    <a:pt x="5337810" y="0"/>
                    <a:pt x="5420360" y="82550"/>
                    <a:pt x="5420360" y="184404"/>
                  </a:cubicBezTo>
                  <a:lnTo>
                    <a:pt x="5420360" y="2949956"/>
                  </a:lnTo>
                  <a:cubicBezTo>
                    <a:pt x="5420360" y="3051810"/>
                    <a:pt x="5337810" y="3134360"/>
                    <a:pt x="5235956" y="3134360"/>
                  </a:cubicBezTo>
                  <a:lnTo>
                    <a:pt x="184404" y="3134360"/>
                  </a:lnTo>
                  <a:cubicBezTo>
                    <a:pt x="82550" y="3134360"/>
                    <a:pt x="0" y="3051810"/>
                    <a:pt x="0" y="294995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3839444" y="7132320"/>
            <a:ext cx="548640" cy="548640"/>
            <a:chOff x="0" y="0"/>
            <a:chExt cx="731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839444" y="7845552"/>
            <a:ext cx="3360420" cy="548640"/>
            <a:chOff x="0" y="0"/>
            <a:chExt cx="448056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480560" cy="731520"/>
            </a:xfrm>
            <a:custGeom>
              <a:avLst/>
              <a:gdLst/>
              <a:ahLst/>
              <a:cxnLst/>
              <a:rect r="r" b="b" t="t" l="l"/>
              <a:pathLst>
                <a:path h="73152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345" r="0" b="-6934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9525"/>
              <a:ext cx="44805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Gestión de deudas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839444" y="8366760"/>
            <a:ext cx="3360420" cy="685800"/>
            <a:chOff x="0" y="0"/>
            <a:chExt cx="4480560" cy="9144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480560" cy="914400"/>
            </a:xfrm>
            <a:custGeom>
              <a:avLst/>
              <a:gdLst/>
              <a:ahLst/>
              <a:cxnLst/>
              <a:rect r="r" b="b" t="t" l="l"/>
              <a:pathLst>
                <a:path h="914400" w="4480560">
                  <a:moveTo>
                    <a:pt x="0" y="0"/>
                  </a:moveTo>
                  <a:lnTo>
                    <a:pt x="4480560" y="0"/>
                  </a:lnTo>
                  <a:lnTo>
                    <a:pt x="44805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476" r="0" b="-4547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448056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Estrategias de pago controlado.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0440" y="-1645920"/>
            <a:ext cx="6035040" cy="6035040"/>
            <a:chOff x="0" y="0"/>
            <a:chExt cx="8046720" cy="8046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46720" cy="8046720"/>
            </a:xfrm>
            <a:custGeom>
              <a:avLst/>
              <a:gdLst/>
              <a:ahLst/>
              <a:cxnLst/>
              <a:rect r="r" b="b" t="t" l="l"/>
              <a:pathLst>
                <a:path h="8046720" w="8046720">
                  <a:moveTo>
                    <a:pt x="0" y="4023360"/>
                  </a:moveTo>
                  <a:cubicBezTo>
                    <a:pt x="0" y="1801368"/>
                    <a:pt x="1801368" y="0"/>
                    <a:pt x="4023360" y="0"/>
                  </a:cubicBezTo>
                  <a:cubicBezTo>
                    <a:pt x="6245352" y="0"/>
                    <a:pt x="8046720" y="1801368"/>
                    <a:pt x="8046720" y="4023360"/>
                  </a:cubicBezTo>
                  <a:cubicBezTo>
                    <a:pt x="8046720" y="6245352"/>
                    <a:pt x="6245352" y="8046720"/>
                    <a:pt x="4023360" y="8046720"/>
                  </a:cubicBezTo>
                  <a:cubicBezTo>
                    <a:pt x="1801368" y="8046720"/>
                    <a:pt x="0" y="6245352"/>
                    <a:pt x="0" y="4023360"/>
                  </a:cubicBezTo>
                  <a:close/>
                </a:path>
              </a:pathLst>
            </a:custGeom>
            <a:solidFill>
              <a:srgbClr val="065A82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4440" y="1508760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OBJETIVOS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4440" y="2194560"/>
            <a:ext cx="13716000" cy="960120"/>
            <a:chOff x="0" y="0"/>
            <a:chExt cx="1828800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2880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828800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 general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70140">
            <a:off x="1205570" y="3277553"/>
            <a:ext cx="2800931" cy="0"/>
          </a:xfrm>
          <a:prstGeom prst="line">
            <a:avLst/>
          </a:prstGeom>
          <a:ln cap="rnd" w="28575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1234440" y="3977640"/>
            <a:ext cx="14813280" cy="3566160"/>
            <a:chOff x="0" y="0"/>
            <a:chExt cx="19751040" cy="4754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751039" cy="4754880"/>
            </a:xfrm>
            <a:custGeom>
              <a:avLst/>
              <a:gdLst/>
              <a:ahLst/>
              <a:cxnLst/>
              <a:rect r="r" b="b" t="t" l="l"/>
              <a:pathLst>
                <a:path h="4754880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4754880"/>
                  </a:lnTo>
                  <a:lnTo>
                    <a:pt x="0" y="4754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937" r="0" b="-3093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14300"/>
              <a:ext cx="19751040" cy="4869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75"/>
                </a:lnSpc>
              </a:pPr>
              <a:r>
                <a:rPr lang="en-US" sz="3450" i="true">
                  <a:solidFill>
                    <a:srgbClr val="EAF3F7"/>
                  </a:solidFill>
                  <a:latin typeface="Cambria Italics"/>
                  <a:ea typeface="Cambria Italics"/>
                  <a:cs typeface="Cambria Italics"/>
                  <a:sym typeface="Cambria Italics"/>
                </a:rPr>
                <a:t>Desarrollar Financial Beacon, una aplicación de educación y gestión financiera orientada a trabajadores con ingresos variables, que permita registrar ingresos y gastos, visualizar el estado financiero del usuario y generar recomendaciones para el ahorro y el pago controlado de deudas.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FB3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3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 · OBJETIVOS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 específicos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8180070" cy="2076450"/>
            <a:chOff x="0" y="0"/>
            <a:chExt cx="10906760" cy="2768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6761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906761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22229" y="0"/>
                  </a:lnTo>
                  <a:cubicBezTo>
                    <a:pt x="10824211" y="0"/>
                    <a:pt x="10906761" y="82677"/>
                    <a:pt x="10906761" y="184531"/>
                  </a:cubicBezTo>
                  <a:lnTo>
                    <a:pt x="10906761" y="2584069"/>
                  </a:lnTo>
                  <a:cubicBezTo>
                    <a:pt x="10906761" y="2686050"/>
                    <a:pt x="10824083" y="2768600"/>
                    <a:pt x="1072222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274320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2743200"/>
            <a:ext cx="754380" cy="754380"/>
            <a:chOff x="0" y="0"/>
            <a:chExt cx="100584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194560" y="2606040"/>
            <a:ext cx="6446520" cy="1645920"/>
            <a:chOff x="0" y="0"/>
            <a:chExt cx="8595360" cy="21945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95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5953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la arquitectura del sistema y el modelo de base de datos relacional para la información financiera.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48775" y="2390775"/>
            <a:ext cx="8180070" cy="2076450"/>
            <a:chOff x="0" y="0"/>
            <a:chExt cx="10906760" cy="2768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06761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906761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22229" y="0"/>
                  </a:lnTo>
                  <a:cubicBezTo>
                    <a:pt x="10824211" y="0"/>
                    <a:pt x="10906761" y="82677"/>
                    <a:pt x="10906761" y="184531"/>
                  </a:cubicBezTo>
                  <a:lnTo>
                    <a:pt x="10906761" y="2584069"/>
                  </a:lnTo>
                  <a:cubicBezTo>
                    <a:pt x="10906761" y="2686050"/>
                    <a:pt x="10824083" y="2768600"/>
                    <a:pt x="1072222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601200" y="274320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601200" y="2743200"/>
            <a:ext cx="754380" cy="754380"/>
            <a:chOff x="0" y="0"/>
            <a:chExt cx="1005840" cy="10058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29900" y="2606040"/>
            <a:ext cx="6446520" cy="1645920"/>
            <a:chOff x="0" y="0"/>
            <a:chExt cx="8595360" cy="21945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595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5953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Implementar el registro de ingresos y gastos (fijos, variables y hormiga) actualizable mensualmente.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3435" y="4653915"/>
            <a:ext cx="8180070" cy="2076450"/>
            <a:chOff x="0" y="0"/>
            <a:chExt cx="10906760" cy="2768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06761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906761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22229" y="0"/>
                  </a:lnTo>
                  <a:cubicBezTo>
                    <a:pt x="10824211" y="0"/>
                    <a:pt x="10906761" y="82677"/>
                    <a:pt x="10906761" y="184531"/>
                  </a:cubicBezTo>
                  <a:lnTo>
                    <a:pt x="10906761" y="2584069"/>
                  </a:lnTo>
                  <a:cubicBezTo>
                    <a:pt x="10906761" y="2686050"/>
                    <a:pt x="10824083" y="2768600"/>
                    <a:pt x="1072222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65860" y="500634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65860" y="5006340"/>
            <a:ext cx="754380" cy="754380"/>
            <a:chOff x="0" y="0"/>
            <a:chExt cx="100584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94560" y="4869180"/>
            <a:ext cx="6446520" cy="1645920"/>
            <a:chOff x="0" y="0"/>
            <a:chExt cx="8595360" cy="21945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95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5953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Generar reportes visuales simples del estado financiero y posibles áreas de ahorro.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48775" y="4653915"/>
            <a:ext cx="8180070" cy="2076450"/>
            <a:chOff x="0" y="0"/>
            <a:chExt cx="10906760" cy="2768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06761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906761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22229" y="0"/>
                  </a:lnTo>
                  <a:cubicBezTo>
                    <a:pt x="10824211" y="0"/>
                    <a:pt x="10906761" y="82677"/>
                    <a:pt x="10906761" y="184531"/>
                  </a:cubicBezTo>
                  <a:lnTo>
                    <a:pt x="10906761" y="2584069"/>
                  </a:lnTo>
                  <a:cubicBezTo>
                    <a:pt x="10906761" y="2686050"/>
                    <a:pt x="10824083" y="2768600"/>
                    <a:pt x="1072222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601200" y="5006340"/>
            <a:ext cx="754380" cy="754380"/>
            <a:chOff x="0" y="0"/>
            <a:chExt cx="100584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601200" y="5006340"/>
            <a:ext cx="754380" cy="754380"/>
            <a:chOff x="0" y="0"/>
            <a:chExt cx="1005840" cy="10058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629900" y="4869180"/>
            <a:ext cx="6446520" cy="1645920"/>
            <a:chOff x="0" y="0"/>
            <a:chExt cx="8595360" cy="21945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595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5953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Desarrollar un módulo de gestión de deudas que sugiera estrategias de pago controladas.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13435" y="6917055"/>
            <a:ext cx="8180070" cy="2076450"/>
            <a:chOff x="0" y="0"/>
            <a:chExt cx="10906760" cy="2768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06761" cy="2768600"/>
            </a:xfrm>
            <a:custGeom>
              <a:avLst/>
              <a:gdLst/>
              <a:ahLst/>
              <a:cxnLst/>
              <a:rect r="r" b="b" t="t" l="l"/>
              <a:pathLst>
                <a:path h="2768600" w="10906761">
                  <a:moveTo>
                    <a:pt x="0" y="184531"/>
                  </a:moveTo>
                  <a:cubicBezTo>
                    <a:pt x="0" y="82677"/>
                    <a:pt x="82677" y="0"/>
                    <a:pt x="184531" y="0"/>
                  </a:cubicBezTo>
                  <a:lnTo>
                    <a:pt x="10722229" y="0"/>
                  </a:lnTo>
                  <a:cubicBezTo>
                    <a:pt x="10824211" y="0"/>
                    <a:pt x="10906761" y="82677"/>
                    <a:pt x="10906761" y="184531"/>
                  </a:cubicBezTo>
                  <a:lnTo>
                    <a:pt x="10906761" y="2584069"/>
                  </a:lnTo>
                  <a:cubicBezTo>
                    <a:pt x="10906761" y="2686050"/>
                    <a:pt x="10824083" y="2768600"/>
                    <a:pt x="10722229" y="2768600"/>
                  </a:cubicBezTo>
                  <a:lnTo>
                    <a:pt x="184531" y="2768600"/>
                  </a:lnTo>
                  <a:cubicBezTo>
                    <a:pt x="82677" y="2768600"/>
                    <a:pt x="0" y="2685923"/>
                    <a:pt x="0" y="258406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65860" y="7269480"/>
            <a:ext cx="754380" cy="754380"/>
            <a:chOff x="0" y="0"/>
            <a:chExt cx="100584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65860" y="7269480"/>
            <a:ext cx="754380" cy="754380"/>
            <a:chOff x="0" y="0"/>
            <a:chExt cx="1005840" cy="1005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100584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2194560" y="7132320"/>
            <a:ext cx="6446520" cy="1645920"/>
            <a:chOff x="0" y="0"/>
            <a:chExt cx="8595360" cy="21945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595360" cy="2194560"/>
            </a:xfrm>
            <a:custGeom>
              <a:avLst/>
              <a:gdLst/>
              <a:ahLst/>
              <a:cxnLst/>
              <a:rect r="r" b="b" t="t" l="l"/>
              <a:pathLst>
                <a:path h="2194560" w="8595360">
                  <a:moveTo>
                    <a:pt x="0" y="0"/>
                  </a:moveTo>
                  <a:lnTo>
                    <a:pt x="8595360" y="0"/>
                  </a:lnTo>
                  <a:lnTo>
                    <a:pt x="859536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316" r="0" b="-2631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595360" cy="2232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Integrar los módulos mediante APIs y validar su funcionamiento con pruebas.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 · METODOLOGÍA DE DESARROLLO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Scrum: desarrollo ágil por sprints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2960" y="2400300"/>
            <a:ext cx="5074920" cy="6720840"/>
            <a:chOff x="0" y="0"/>
            <a:chExt cx="6766560" cy="896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766560" cy="8961120"/>
            </a:xfrm>
            <a:custGeom>
              <a:avLst/>
              <a:gdLst/>
              <a:ahLst/>
              <a:cxnLst/>
              <a:rect r="r" b="b" t="t" l="l"/>
              <a:pathLst>
                <a:path h="8961120" w="67665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583680" y="0"/>
                  </a:lnTo>
                  <a:cubicBezTo>
                    <a:pt x="6684645" y="0"/>
                    <a:pt x="6766560" y="81915"/>
                    <a:pt x="6766560" y="182880"/>
                  </a:cubicBezTo>
                  <a:lnTo>
                    <a:pt x="6766560" y="8778240"/>
                  </a:lnTo>
                  <a:cubicBezTo>
                    <a:pt x="6766560" y="8879205"/>
                    <a:pt x="6684645" y="8961120"/>
                    <a:pt x="6583680" y="8961120"/>
                  </a:cubicBezTo>
                  <a:lnTo>
                    <a:pt x="182880" y="8961120"/>
                  </a:lnTo>
                  <a:cubicBezTo>
                    <a:pt x="81915" y="8961120"/>
                    <a:pt x="0" y="8879205"/>
                    <a:pt x="0" y="877824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03020" y="2743200"/>
            <a:ext cx="4251960" cy="685800"/>
            <a:chOff x="0" y="0"/>
            <a:chExt cx="566928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69280" cy="914400"/>
            </a:xfrm>
            <a:custGeom>
              <a:avLst/>
              <a:gdLst/>
              <a:ahLst/>
              <a:cxnLst/>
              <a:rect r="r" b="b" t="t" l="l"/>
              <a:pathLst>
                <a:path h="91440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66928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150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METODOLOGÍA SELECCIONADA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3429000"/>
            <a:ext cx="4251960" cy="822960"/>
            <a:chOff x="0" y="0"/>
            <a:chExt cx="5669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669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2" r="0" b="-506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56692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Scrum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03020" y="4389120"/>
            <a:ext cx="4251960" cy="1645920"/>
            <a:chOff x="0" y="0"/>
            <a:chExt cx="5669280" cy="21945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92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669280" cy="22421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Metodología ágil organizada en sprints, con revisiones periódicas de avance.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>
            <a:off x="1303020" y="6309360"/>
            <a:ext cx="1643651" cy="0"/>
          </a:xfrm>
          <a:prstGeom prst="line">
            <a:avLst/>
          </a:prstGeom>
          <a:ln cap="rnd" w="19050">
            <a:solidFill>
              <a:srgbClr val="1C729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303020" y="6515100"/>
            <a:ext cx="4251960" cy="2194560"/>
            <a:chOff x="0" y="0"/>
            <a:chExt cx="5669280" cy="2926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669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221" t="0" r="-16221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66928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BFE0E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Rol único: Pablo asume Product Owner, Scrum Master y equipo de desarrollo.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62675" y="2390775"/>
            <a:ext cx="11266170" cy="3173730"/>
            <a:chOff x="0" y="0"/>
            <a:chExt cx="15021560" cy="4231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021561" cy="4231640"/>
            </a:xfrm>
            <a:custGeom>
              <a:avLst/>
              <a:gdLst/>
              <a:ahLst/>
              <a:cxnLst/>
              <a:rect r="r" b="b" t="t" l="l"/>
              <a:pathLst>
                <a:path h="4231640" w="15021561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14837538" y="0"/>
                  </a:lnTo>
                  <a:cubicBezTo>
                    <a:pt x="14939138" y="0"/>
                    <a:pt x="15021561" y="82423"/>
                    <a:pt x="15021561" y="184023"/>
                  </a:cubicBezTo>
                  <a:lnTo>
                    <a:pt x="15021561" y="4047617"/>
                  </a:lnTo>
                  <a:cubicBezTo>
                    <a:pt x="15021561" y="4149217"/>
                    <a:pt x="14939138" y="4231640"/>
                    <a:pt x="14837538" y="4231640"/>
                  </a:cubicBezTo>
                  <a:lnTo>
                    <a:pt x="184023" y="4231640"/>
                  </a:lnTo>
                  <a:cubicBezTo>
                    <a:pt x="82423" y="4231640"/>
                    <a:pt x="0" y="4149217"/>
                    <a:pt x="0" y="404761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652260" y="2674620"/>
            <a:ext cx="9601200" cy="411480"/>
            <a:chOff x="0" y="0"/>
            <a:chExt cx="128016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JUSTIFICACIÓN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652260" y="3154680"/>
            <a:ext cx="10287000" cy="2194560"/>
            <a:chOff x="0" y="0"/>
            <a:chExt cx="13716000" cy="2926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716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336" r="0" b="-4133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371600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proyecto requiere entregar módulos funcionales de forma incremental (ingresos/gastos, informes, deudas) mientras se validan requerimientos con el docente. Scrum permite adaptar el alcance sprint a sprint sin comprometer la entrega final.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162675" y="5819775"/>
            <a:ext cx="11266170" cy="3310890"/>
            <a:chOff x="0" y="0"/>
            <a:chExt cx="15021560" cy="4414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021559" cy="4414520"/>
            </a:xfrm>
            <a:custGeom>
              <a:avLst/>
              <a:gdLst/>
              <a:ahLst/>
              <a:cxnLst/>
              <a:rect r="r" b="b" t="t" l="l"/>
              <a:pathLst>
                <a:path h="4414520" w="15021559">
                  <a:moveTo>
                    <a:pt x="0" y="183896"/>
                  </a:moveTo>
                  <a:cubicBezTo>
                    <a:pt x="0" y="82296"/>
                    <a:pt x="82296" y="0"/>
                    <a:pt x="183896" y="0"/>
                  </a:cubicBezTo>
                  <a:lnTo>
                    <a:pt x="14837663" y="0"/>
                  </a:lnTo>
                  <a:cubicBezTo>
                    <a:pt x="14939263" y="0"/>
                    <a:pt x="15021559" y="82296"/>
                    <a:pt x="15021559" y="183896"/>
                  </a:cubicBezTo>
                  <a:lnTo>
                    <a:pt x="15021559" y="4230624"/>
                  </a:lnTo>
                  <a:cubicBezTo>
                    <a:pt x="15021559" y="4332224"/>
                    <a:pt x="14939263" y="4414520"/>
                    <a:pt x="14837663" y="4414520"/>
                  </a:cubicBezTo>
                  <a:lnTo>
                    <a:pt x="183896" y="4414520"/>
                  </a:lnTo>
                  <a:cubicBezTo>
                    <a:pt x="82296" y="4414520"/>
                    <a:pt x="0" y="4332224"/>
                    <a:pt x="0" y="423062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6652260" y="6103620"/>
            <a:ext cx="9601200" cy="411480"/>
            <a:chOff x="0" y="0"/>
            <a:chExt cx="128016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801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2801600">
                  <a:moveTo>
                    <a:pt x="0" y="0"/>
                  </a:moveTo>
                  <a:lnTo>
                    <a:pt x="12801600" y="0"/>
                  </a:lnTo>
                  <a:lnTo>
                    <a:pt x="12801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28016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APLICACIÓN DURANTE EL PROYECTO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652260" y="6583680"/>
            <a:ext cx="10287000" cy="2331720"/>
            <a:chOff x="0" y="0"/>
            <a:chExt cx="13716000" cy="31089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71600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963" r="0" b="-3596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716000" cy="3147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Backlog dividido por módulo (arquitectura, ingresos/gastos, deudas, integración)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Sprints alineados a las 3 fases de la asignatura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Revisiones periódicas de avance con el docente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Tablero Kanban en Trello para seguimiento diario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 · PLANIFICACIÓN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Carta Gantt — 18 semanas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5382000">
            <a:off x="284337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4320540" y="6089904"/>
            <a:ext cx="685800" cy="411480"/>
            <a:chOff x="0" y="0"/>
            <a:chExt cx="914400" cy="5486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S0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382000">
            <a:off x="426069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5737860" y="6089904"/>
            <a:ext cx="685800" cy="411480"/>
            <a:chOff x="0" y="0"/>
            <a:chExt cx="914400" cy="548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S2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rot="5382000">
            <a:off x="567801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7155180" y="6089904"/>
            <a:ext cx="685800" cy="411480"/>
            <a:chOff x="0" y="0"/>
            <a:chExt cx="914400" cy="5486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S4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5382000">
            <a:off x="709533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8572500" y="6089904"/>
            <a:ext cx="685800" cy="411480"/>
            <a:chOff x="0" y="0"/>
            <a:chExt cx="914400" cy="548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S6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rot="5382000">
            <a:off x="851265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9989820" y="6089904"/>
            <a:ext cx="685800" cy="411480"/>
            <a:chOff x="0" y="0"/>
            <a:chExt cx="914400" cy="5486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S8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5382000">
            <a:off x="992997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1407140" y="6089904"/>
            <a:ext cx="685800" cy="411480"/>
            <a:chOff x="0" y="0"/>
            <a:chExt cx="914400" cy="548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S10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5382000">
            <a:off x="1134729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2824460" y="6089904"/>
            <a:ext cx="685800" cy="411480"/>
            <a:chOff x="0" y="0"/>
            <a:chExt cx="914400" cy="548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S12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5382000">
            <a:off x="1276461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7" id="37"/>
          <p:cNvGrpSpPr/>
          <p:nvPr/>
        </p:nvGrpSpPr>
        <p:grpSpPr>
          <a:xfrm rot="0">
            <a:off x="14241780" y="6089904"/>
            <a:ext cx="685800" cy="411480"/>
            <a:chOff x="0" y="0"/>
            <a:chExt cx="914400" cy="5486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S14</a:t>
              </a:r>
            </a:p>
          </p:txBody>
        </p:sp>
      </p:grpSp>
      <p:sp>
        <p:nvSpPr>
          <p:cNvPr name="AutoShape 40" id="40"/>
          <p:cNvSpPr/>
          <p:nvPr/>
        </p:nvSpPr>
        <p:spPr>
          <a:xfrm rot="5382000">
            <a:off x="1418193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15659100" y="6089904"/>
            <a:ext cx="685800" cy="411480"/>
            <a:chOff x="0" y="0"/>
            <a:chExt cx="914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S16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5382000">
            <a:off x="15599254" y="4274630"/>
            <a:ext cx="3640122" cy="0"/>
          </a:xfrm>
          <a:prstGeom prst="line">
            <a:avLst/>
          </a:prstGeom>
          <a:ln cap="rnd" w="9525">
            <a:solidFill>
              <a:srgbClr val="E1E9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17076420" y="6089904"/>
            <a:ext cx="685800" cy="411480"/>
            <a:chOff x="0" y="0"/>
            <a:chExt cx="9144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548640"/>
            </a:xfrm>
            <a:custGeom>
              <a:avLst/>
              <a:gdLst/>
              <a:ahLst/>
              <a:cxnLst/>
              <a:rect r="r" b="b" t="t" l="l"/>
              <a:pathLst>
                <a:path h="54864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6982" t="0" r="-2698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914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S18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22960" y="2592324"/>
            <a:ext cx="3703320" cy="480060"/>
            <a:chOff x="0" y="0"/>
            <a:chExt cx="4937760" cy="6400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37760" cy="640080"/>
            </a:xfrm>
            <a:custGeom>
              <a:avLst/>
              <a:gdLst/>
              <a:ahLst/>
              <a:cxnLst/>
              <a:rect r="r" b="b" t="t" l="l"/>
              <a:pathLst>
                <a:path h="6400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493776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2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de arquitectura y BD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822960" y="3031236"/>
            <a:ext cx="3703320" cy="411480"/>
            <a:chOff x="0" y="0"/>
            <a:chExt cx="493776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4937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Pablo Pizarro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663440" y="2784348"/>
            <a:ext cx="2834640" cy="521208"/>
            <a:chOff x="0" y="0"/>
            <a:chExt cx="3779520" cy="6949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79520" cy="694944"/>
            </a:xfrm>
            <a:custGeom>
              <a:avLst/>
              <a:gdLst/>
              <a:ahLst/>
              <a:cxnLst/>
              <a:rect r="r" b="b" t="t" l="l"/>
              <a:pathLst>
                <a:path h="694944" w="377952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3669792" y="0"/>
                  </a:lnTo>
                  <a:cubicBezTo>
                    <a:pt x="3730371" y="0"/>
                    <a:pt x="3779520" y="49149"/>
                    <a:pt x="3779520" y="109728"/>
                  </a:cubicBezTo>
                  <a:lnTo>
                    <a:pt x="3779520" y="585216"/>
                  </a:lnTo>
                  <a:cubicBezTo>
                    <a:pt x="3779520" y="645795"/>
                    <a:pt x="3730371" y="694944"/>
                    <a:pt x="3669792" y="694944"/>
                  </a:cubicBezTo>
                  <a:lnTo>
                    <a:pt x="109728" y="694944"/>
                  </a:lnTo>
                  <a:cubicBezTo>
                    <a:pt x="49149" y="694944"/>
                    <a:pt x="0" y="645795"/>
                    <a:pt x="0" y="585216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4663440" y="2784348"/>
            <a:ext cx="2834640" cy="521208"/>
            <a:chOff x="0" y="0"/>
            <a:chExt cx="377952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79520" cy="694944"/>
            </a:xfrm>
            <a:custGeom>
              <a:avLst/>
              <a:gdLst/>
              <a:ahLst/>
              <a:cxnLst/>
              <a:rect r="r" b="b" t="t" l="l"/>
              <a:pathLst>
                <a:path h="694944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971" r="0" b="-5597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77952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sem.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3662172"/>
            <a:ext cx="3703320" cy="480060"/>
            <a:chOff x="0" y="0"/>
            <a:chExt cx="4937760" cy="640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37760" cy="640080"/>
            </a:xfrm>
            <a:custGeom>
              <a:avLst/>
              <a:gdLst/>
              <a:ahLst/>
              <a:cxnLst/>
              <a:rect r="r" b="b" t="t" l="l"/>
              <a:pathLst>
                <a:path h="6400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493776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2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Desarrollo de módulos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22960" y="4101084"/>
            <a:ext cx="3703320" cy="411480"/>
            <a:chOff x="0" y="0"/>
            <a:chExt cx="493776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4937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Pablo Pizarro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498080" y="3854196"/>
            <a:ext cx="8503920" cy="521208"/>
            <a:chOff x="0" y="0"/>
            <a:chExt cx="11338560" cy="6949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338560" cy="694944"/>
            </a:xfrm>
            <a:custGeom>
              <a:avLst/>
              <a:gdLst/>
              <a:ahLst/>
              <a:cxnLst/>
              <a:rect r="r" b="b" t="t" l="l"/>
              <a:pathLst>
                <a:path h="694944" w="113385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1228832" y="0"/>
                  </a:lnTo>
                  <a:cubicBezTo>
                    <a:pt x="11289411" y="0"/>
                    <a:pt x="11338560" y="49149"/>
                    <a:pt x="11338560" y="109728"/>
                  </a:cubicBezTo>
                  <a:lnTo>
                    <a:pt x="11338560" y="585216"/>
                  </a:lnTo>
                  <a:cubicBezTo>
                    <a:pt x="11338560" y="645795"/>
                    <a:pt x="11289411" y="694944"/>
                    <a:pt x="11228832" y="694944"/>
                  </a:cubicBezTo>
                  <a:lnTo>
                    <a:pt x="109728" y="694944"/>
                  </a:lnTo>
                  <a:cubicBezTo>
                    <a:pt x="49149" y="694944"/>
                    <a:pt x="0" y="645795"/>
                    <a:pt x="0" y="58521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7498080" y="3854196"/>
            <a:ext cx="8503920" cy="521208"/>
            <a:chOff x="0" y="0"/>
            <a:chExt cx="11338560" cy="6949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338560" cy="694944"/>
            </a:xfrm>
            <a:custGeom>
              <a:avLst/>
              <a:gdLst/>
              <a:ahLst/>
              <a:cxnLst/>
              <a:rect r="r" b="b" t="t" l="l"/>
              <a:pathLst>
                <a:path h="694944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7913" r="0" b="-267913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13385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 sem.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4732020"/>
            <a:ext cx="3703320" cy="480060"/>
            <a:chOff x="0" y="0"/>
            <a:chExt cx="4937760" cy="6400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937760" cy="640080"/>
            </a:xfrm>
            <a:custGeom>
              <a:avLst/>
              <a:gdLst/>
              <a:ahLst/>
              <a:cxnLst/>
              <a:rect r="r" b="b" t="t" l="l"/>
              <a:pathLst>
                <a:path h="64008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493776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1B27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Pruebas, doc. y entrega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22960" y="5170932"/>
            <a:ext cx="3703320" cy="411480"/>
            <a:chOff x="0" y="0"/>
            <a:chExt cx="493776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937760" cy="548640"/>
            </a:xfrm>
            <a:custGeom>
              <a:avLst/>
              <a:gdLst/>
              <a:ahLst/>
              <a:cxnLst/>
              <a:rect r="r" b="b" t="t" l="l"/>
              <a:pathLst>
                <a:path h="548640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493776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Pablo Pizarro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6002000" y="4924044"/>
            <a:ext cx="1417320" cy="521208"/>
            <a:chOff x="0" y="0"/>
            <a:chExt cx="1889760" cy="6949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889760" cy="694944"/>
            </a:xfrm>
            <a:custGeom>
              <a:avLst/>
              <a:gdLst/>
              <a:ahLst/>
              <a:cxnLst/>
              <a:rect r="r" b="b" t="t" l="l"/>
              <a:pathLst>
                <a:path h="694944" w="1889760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1780032" y="0"/>
                  </a:lnTo>
                  <a:cubicBezTo>
                    <a:pt x="1840611" y="0"/>
                    <a:pt x="1889760" y="49149"/>
                    <a:pt x="1889760" y="109728"/>
                  </a:cubicBezTo>
                  <a:lnTo>
                    <a:pt x="1889760" y="585216"/>
                  </a:lnTo>
                  <a:cubicBezTo>
                    <a:pt x="1889760" y="645795"/>
                    <a:pt x="1840611" y="694944"/>
                    <a:pt x="1780032" y="694944"/>
                  </a:cubicBezTo>
                  <a:lnTo>
                    <a:pt x="109728" y="694944"/>
                  </a:lnTo>
                  <a:cubicBezTo>
                    <a:pt x="49149" y="694944"/>
                    <a:pt x="0" y="645795"/>
                    <a:pt x="0" y="585216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002000" y="4924044"/>
            <a:ext cx="1417320" cy="521208"/>
            <a:chOff x="0" y="0"/>
            <a:chExt cx="1889760" cy="6949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889760" cy="694944"/>
            </a:xfrm>
            <a:custGeom>
              <a:avLst/>
              <a:gdLst/>
              <a:ahLst/>
              <a:cxnLst/>
              <a:rect r="r" b="b" t="t" l="l"/>
              <a:pathLst>
                <a:path h="694944" w="1889760">
                  <a:moveTo>
                    <a:pt x="0" y="0"/>
                  </a:moveTo>
                  <a:lnTo>
                    <a:pt x="1889760" y="0"/>
                  </a:lnTo>
                  <a:lnTo>
                    <a:pt x="18897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85" r="0" b="-298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889760" cy="733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sem.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13435" y="6779895"/>
            <a:ext cx="16615410" cy="2556510"/>
            <a:chOff x="0" y="0"/>
            <a:chExt cx="22153880" cy="3408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153880" cy="3408680"/>
            </a:xfrm>
            <a:custGeom>
              <a:avLst/>
              <a:gdLst/>
              <a:ahLst/>
              <a:cxnLst/>
              <a:rect r="r" b="b" t="t" l="l"/>
              <a:pathLst>
                <a:path h="3408680" w="22153880">
                  <a:moveTo>
                    <a:pt x="0" y="184277"/>
                  </a:moveTo>
                  <a:cubicBezTo>
                    <a:pt x="0" y="82550"/>
                    <a:pt x="82550" y="0"/>
                    <a:pt x="184277" y="0"/>
                  </a:cubicBezTo>
                  <a:lnTo>
                    <a:pt x="21969603" y="0"/>
                  </a:lnTo>
                  <a:cubicBezTo>
                    <a:pt x="22071330" y="0"/>
                    <a:pt x="22153880" y="82550"/>
                    <a:pt x="22153880" y="184277"/>
                  </a:cubicBezTo>
                  <a:lnTo>
                    <a:pt x="22153880" y="3224403"/>
                  </a:lnTo>
                  <a:cubicBezTo>
                    <a:pt x="22153880" y="3326130"/>
                    <a:pt x="22071330" y="3408680"/>
                    <a:pt x="21969603" y="3408680"/>
                  </a:cubicBezTo>
                  <a:lnTo>
                    <a:pt x="184277" y="3408680"/>
                  </a:lnTo>
                  <a:cubicBezTo>
                    <a:pt x="82550" y="3408680"/>
                    <a:pt x="0" y="3326130"/>
                    <a:pt x="0" y="3224403"/>
                  </a:cubicBezTo>
                  <a:close/>
                </a:path>
              </a:pathLst>
            </a:custGeom>
            <a:solidFill>
              <a:srgbClr val="E8F1F5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303020" y="6995160"/>
            <a:ext cx="10972800" cy="411480"/>
            <a:chOff x="0" y="0"/>
            <a:chExt cx="14630400" cy="54864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ACTIVIDADES, RESPONSABLES Y TIEMPOS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03020" y="7475220"/>
            <a:ext cx="15636240" cy="1783080"/>
            <a:chOff x="0" y="0"/>
            <a:chExt cx="20848320" cy="23774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8483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868" r="0" b="-120868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0848320" cy="2415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Fase 1 (4 sem.): requerimientos, arquitectura y modelo relacional — Responsable: Pablo Pizarro.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Fase 2 (12 sem.): módulos de ingresos/gastos, reportes e integración de deudas vía APIs — Responsable: Pablo Pizarro.</a:t>
              </a:r>
            </a:p>
            <a:p>
              <a:pPr algn="l" marL="325755" indent="-162878" lvl="1">
                <a:lnSpc>
                  <a:spcPts val="2160"/>
                </a:lnSpc>
                <a:buFont typeface="Arial"/>
                <a:buChar char="•"/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Fase 3 (2 sem.): pruebas integrales, informe final, manual de usuario y presentación — Responsable: Pablo Pizarro.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 · HERRAMIENTAS DE TRABAJO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Stack tecnológico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5299710" cy="2830830"/>
            <a:chOff x="0" y="0"/>
            <a:chExt cx="7066280" cy="3774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662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0662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2130" y="0"/>
                  </a:lnTo>
                  <a:cubicBezTo>
                    <a:pt x="6983857" y="0"/>
                    <a:pt x="7066280" y="82423"/>
                    <a:pt x="7066280" y="184150"/>
                  </a:cubicBezTo>
                  <a:lnTo>
                    <a:pt x="7066280" y="3590290"/>
                  </a:lnTo>
                  <a:cubicBezTo>
                    <a:pt x="7066280" y="3692017"/>
                    <a:pt x="6983857" y="3774440"/>
                    <a:pt x="6882130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34440" y="2811780"/>
            <a:ext cx="754380" cy="754380"/>
            <a:chOff x="0" y="0"/>
            <a:chExt cx="100584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3771900"/>
            <a:ext cx="4457700" cy="480060"/>
            <a:chOff x="0" y="0"/>
            <a:chExt cx="5943600" cy="6400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943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34440" y="4251960"/>
            <a:ext cx="4457700" cy="754380"/>
            <a:chOff x="0" y="0"/>
            <a:chExt cx="594360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5943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Trello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340983" y="2390775"/>
            <a:ext cx="5299710" cy="2830830"/>
            <a:chOff x="0" y="0"/>
            <a:chExt cx="7066280" cy="3774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662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0662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2130" y="0"/>
                  </a:lnTo>
                  <a:cubicBezTo>
                    <a:pt x="6983857" y="0"/>
                    <a:pt x="7066280" y="82423"/>
                    <a:pt x="7066280" y="184150"/>
                  </a:cubicBezTo>
                  <a:lnTo>
                    <a:pt x="7066280" y="3590290"/>
                  </a:lnTo>
                  <a:cubicBezTo>
                    <a:pt x="7066280" y="3692017"/>
                    <a:pt x="6983857" y="3774440"/>
                    <a:pt x="6882130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761988" y="2811780"/>
            <a:ext cx="754380" cy="754380"/>
            <a:chOff x="0" y="0"/>
            <a:chExt cx="1005840" cy="1005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761988" y="3771900"/>
            <a:ext cx="4457700" cy="480060"/>
            <a:chOff x="0" y="0"/>
            <a:chExt cx="59436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5943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PROGRAMACIÓN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61988" y="4251960"/>
            <a:ext cx="4457700" cy="754380"/>
            <a:chOff x="0" y="0"/>
            <a:chExt cx="594360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5943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Visual Studio Code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68531" y="2390775"/>
            <a:ext cx="5299710" cy="2830830"/>
            <a:chOff x="0" y="0"/>
            <a:chExt cx="7066280" cy="3774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662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0662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2130" y="0"/>
                  </a:lnTo>
                  <a:cubicBezTo>
                    <a:pt x="6983857" y="0"/>
                    <a:pt x="7066280" y="82423"/>
                    <a:pt x="7066280" y="184150"/>
                  </a:cubicBezTo>
                  <a:lnTo>
                    <a:pt x="7066280" y="3590290"/>
                  </a:lnTo>
                  <a:cubicBezTo>
                    <a:pt x="7066280" y="3692017"/>
                    <a:pt x="6983857" y="3774440"/>
                    <a:pt x="6882130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2289536" y="2811780"/>
            <a:ext cx="754380" cy="754380"/>
            <a:chOff x="0" y="0"/>
            <a:chExt cx="1005840" cy="10058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2289536" y="3771900"/>
            <a:ext cx="4457700" cy="480060"/>
            <a:chOff x="0" y="0"/>
            <a:chExt cx="5943600" cy="6400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5943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FRAMEWORK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289536" y="4251960"/>
            <a:ext cx="4457700" cy="754380"/>
            <a:chOff x="0" y="0"/>
            <a:chExt cx="59436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943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React + Spring Boot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5545455"/>
            <a:ext cx="5299710" cy="2830830"/>
            <a:chOff x="0" y="0"/>
            <a:chExt cx="7066280" cy="3774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662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0662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2130" y="0"/>
                  </a:lnTo>
                  <a:cubicBezTo>
                    <a:pt x="6983857" y="0"/>
                    <a:pt x="7066280" y="82423"/>
                    <a:pt x="7066280" y="184150"/>
                  </a:cubicBezTo>
                  <a:lnTo>
                    <a:pt x="7066280" y="3590290"/>
                  </a:lnTo>
                  <a:cubicBezTo>
                    <a:pt x="7066280" y="3692017"/>
                    <a:pt x="6983857" y="3774440"/>
                    <a:pt x="6882130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234440" y="5966460"/>
            <a:ext cx="754380" cy="754380"/>
            <a:chOff x="0" y="0"/>
            <a:chExt cx="1005840" cy="10058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34440" y="6926580"/>
            <a:ext cx="4457700" cy="480060"/>
            <a:chOff x="0" y="0"/>
            <a:chExt cx="5943600" cy="6400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5943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BASE DE DATOS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234440" y="7406640"/>
            <a:ext cx="4457700" cy="754380"/>
            <a:chOff x="0" y="0"/>
            <a:chExt cx="594360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5943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PostgreSQL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340983" y="5545455"/>
            <a:ext cx="5299710" cy="2830830"/>
            <a:chOff x="0" y="0"/>
            <a:chExt cx="7066280" cy="37744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0662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0662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2130" y="0"/>
                  </a:lnTo>
                  <a:cubicBezTo>
                    <a:pt x="6983857" y="0"/>
                    <a:pt x="7066280" y="82423"/>
                    <a:pt x="7066280" y="184150"/>
                  </a:cubicBezTo>
                  <a:lnTo>
                    <a:pt x="7066280" y="3590290"/>
                  </a:lnTo>
                  <a:cubicBezTo>
                    <a:pt x="7066280" y="3692017"/>
                    <a:pt x="6983857" y="3774440"/>
                    <a:pt x="6882130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6761988" y="5966460"/>
            <a:ext cx="754380" cy="754380"/>
            <a:chOff x="0" y="0"/>
            <a:chExt cx="1005840" cy="1005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6761988" y="6926580"/>
            <a:ext cx="4457700" cy="480060"/>
            <a:chOff x="0" y="0"/>
            <a:chExt cx="5943600" cy="6400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5943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CONTROL DE VERSIONES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6761988" y="7406640"/>
            <a:ext cx="4457700" cy="754380"/>
            <a:chOff x="0" y="0"/>
            <a:chExt cx="5943600" cy="10058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943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Git y GitHub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868531" y="5545455"/>
            <a:ext cx="5299710" cy="2830830"/>
            <a:chOff x="0" y="0"/>
            <a:chExt cx="7066280" cy="3774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662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06628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6882130" y="0"/>
                  </a:lnTo>
                  <a:cubicBezTo>
                    <a:pt x="6983857" y="0"/>
                    <a:pt x="7066280" y="82423"/>
                    <a:pt x="7066280" y="184150"/>
                  </a:cubicBezTo>
                  <a:lnTo>
                    <a:pt x="7066280" y="3590290"/>
                  </a:lnTo>
                  <a:cubicBezTo>
                    <a:pt x="7066280" y="3692017"/>
                    <a:pt x="6983857" y="3774440"/>
                    <a:pt x="6882130" y="3774440"/>
                  </a:cubicBezTo>
                  <a:lnTo>
                    <a:pt x="184150" y="3774440"/>
                  </a:lnTo>
                  <a:cubicBezTo>
                    <a:pt x="82423" y="3774440"/>
                    <a:pt x="0" y="3692017"/>
                    <a:pt x="0" y="359029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2289536" y="5966460"/>
            <a:ext cx="754380" cy="754380"/>
            <a:chOff x="0" y="0"/>
            <a:chExt cx="1005840" cy="1005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289536" y="6926580"/>
            <a:ext cx="4457700" cy="480060"/>
            <a:chOff x="0" y="0"/>
            <a:chExt cx="5943600" cy="6400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943600" cy="640080"/>
            </a:xfrm>
            <a:custGeom>
              <a:avLst/>
              <a:gdLst/>
              <a:ahLst/>
              <a:cxnLst/>
              <a:rect r="r" b="b" t="t" l="l"/>
              <a:pathLst>
                <a:path h="64008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0932" r="0" b="-13093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59436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74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/ PROTOTIPADO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89536" y="7406640"/>
            <a:ext cx="4457700" cy="754380"/>
            <a:chOff x="0" y="0"/>
            <a:chExt cx="5943600" cy="1005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9436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943600">
                  <a:moveTo>
                    <a:pt x="0" y="0"/>
                  </a:moveTo>
                  <a:lnTo>
                    <a:pt x="5943600" y="0"/>
                  </a:lnTo>
                  <a:lnTo>
                    <a:pt x="59436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138" r="0" b="-6513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943600" cy="10058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Figma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PROTOTIPO INICIAL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Primera aproximación visual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08672" y="2523172"/>
            <a:ext cx="3800475" cy="6269355"/>
            <a:chOff x="0" y="0"/>
            <a:chExt cx="5067300" cy="83591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67300" cy="8359139"/>
            </a:xfrm>
            <a:custGeom>
              <a:avLst/>
              <a:gdLst/>
              <a:ahLst/>
              <a:cxnLst/>
              <a:rect r="r" b="b" t="t" l="l"/>
              <a:pathLst>
                <a:path h="8359139" w="506730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846193" y="0"/>
                  </a:lnTo>
                  <a:cubicBezTo>
                    <a:pt x="4968240" y="0"/>
                    <a:pt x="5067300" y="99060"/>
                    <a:pt x="5067300" y="221107"/>
                  </a:cubicBezTo>
                  <a:lnTo>
                    <a:pt x="5067300" y="8138033"/>
                  </a:lnTo>
                  <a:cubicBezTo>
                    <a:pt x="5067300" y="8260207"/>
                    <a:pt x="4968240" y="8359139"/>
                    <a:pt x="4846193" y="8359139"/>
                  </a:cubicBezTo>
                  <a:lnTo>
                    <a:pt x="221107" y="8359139"/>
                  </a:lnTo>
                  <a:cubicBezTo>
                    <a:pt x="99060" y="8359140"/>
                    <a:pt x="0" y="8260080"/>
                    <a:pt x="0" y="813803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7C6CE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32688" y="2647188"/>
            <a:ext cx="3552444" cy="438912"/>
            <a:chOff x="0" y="0"/>
            <a:chExt cx="4736592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2688" y="2647188"/>
            <a:ext cx="3552444" cy="438912"/>
            <a:chOff x="0" y="0"/>
            <a:chExt cx="4736592" cy="5852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07" r="0" b="-10770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73659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15337" y="3282315"/>
            <a:ext cx="787146" cy="787146"/>
            <a:chOff x="0" y="0"/>
            <a:chExt cx="1049528" cy="10495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9528" cy="1049528"/>
            </a:xfrm>
            <a:custGeom>
              <a:avLst/>
              <a:gdLst/>
              <a:ahLst/>
              <a:cxnLst/>
              <a:rect r="r" b="b" t="t" l="l"/>
              <a:pathLst>
                <a:path h="1049528" w="1049528">
                  <a:moveTo>
                    <a:pt x="0" y="524764"/>
                  </a:moveTo>
                  <a:cubicBezTo>
                    <a:pt x="0" y="234950"/>
                    <a:pt x="234950" y="0"/>
                    <a:pt x="524764" y="0"/>
                  </a:cubicBezTo>
                  <a:cubicBezTo>
                    <a:pt x="814578" y="0"/>
                    <a:pt x="1049528" y="234950"/>
                    <a:pt x="1049528" y="524764"/>
                  </a:cubicBezTo>
                  <a:cubicBezTo>
                    <a:pt x="1049528" y="814578"/>
                    <a:pt x="814578" y="1049528"/>
                    <a:pt x="524764" y="1049528"/>
                  </a:cubicBezTo>
                  <a:cubicBezTo>
                    <a:pt x="234950" y="1049528"/>
                    <a:pt x="0" y="814578"/>
                    <a:pt x="0" y="524764"/>
                  </a:cubicBezTo>
                  <a:close/>
                </a:path>
              </a:pathLst>
            </a:custGeom>
            <a:solidFill>
              <a:srgbClr val="E8F1F5"/>
            </a:solidFill>
            <a:ln w="19050" cap="sq">
              <a:solidFill>
                <a:srgbClr val="1C7293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62704" y="4313396"/>
            <a:ext cx="3292412" cy="453200"/>
            <a:chOff x="0" y="0"/>
            <a:chExt cx="4389882" cy="6042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882" cy="604266"/>
            </a:xfrm>
            <a:custGeom>
              <a:avLst/>
              <a:gdLst/>
              <a:ahLst/>
              <a:cxnLst/>
              <a:rect r="r" b="b" t="t" l="l"/>
              <a:pathLst>
                <a:path h="604266" w="4389882">
                  <a:moveTo>
                    <a:pt x="0" y="0"/>
                  </a:moveTo>
                  <a:lnTo>
                    <a:pt x="4389882" y="0"/>
                  </a:lnTo>
                  <a:lnTo>
                    <a:pt x="4389882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F4F8FA"/>
            </a:solidFill>
            <a:ln w="14288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79576" y="4320540"/>
            <a:ext cx="3058668" cy="438912"/>
            <a:chOff x="0" y="0"/>
            <a:chExt cx="4078224" cy="5852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78224" cy="585216"/>
            </a:xfrm>
            <a:custGeom>
              <a:avLst/>
              <a:gdLst/>
              <a:ahLst/>
              <a:cxnLst/>
              <a:rect r="r" b="b" t="t" l="l"/>
              <a:pathLst>
                <a:path h="585216" w="4078224">
                  <a:moveTo>
                    <a:pt x="0" y="0"/>
                  </a:moveTo>
                  <a:lnTo>
                    <a:pt x="4078224" y="0"/>
                  </a:lnTo>
                  <a:lnTo>
                    <a:pt x="4078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786" r="0" b="-8578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4078224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2704" y="4916900"/>
            <a:ext cx="3292412" cy="453200"/>
            <a:chOff x="0" y="0"/>
            <a:chExt cx="4389882" cy="6042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9882" cy="604266"/>
            </a:xfrm>
            <a:custGeom>
              <a:avLst/>
              <a:gdLst/>
              <a:ahLst/>
              <a:cxnLst/>
              <a:rect r="r" b="b" t="t" l="l"/>
              <a:pathLst>
                <a:path h="604266" w="4389882">
                  <a:moveTo>
                    <a:pt x="0" y="0"/>
                  </a:moveTo>
                  <a:lnTo>
                    <a:pt x="4389882" y="0"/>
                  </a:lnTo>
                  <a:lnTo>
                    <a:pt x="4389882" y="604266"/>
                  </a:lnTo>
                  <a:lnTo>
                    <a:pt x="0" y="604266"/>
                  </a:lnTo>
                  <a:close/>
                </a:path>
              </a:pathLst>
            </a:custGeom>
            <a:solidFill>
              <a:srgbClr val="F4F8FA"/>
            </a:solidFill>
            <a:ln w="14288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79576" y="4924044"/>
            <a:ext cx="3058668" cy="438912"/>
            <a:chOff x="0" y="0"/>
            <a:chExt cx="4078224" cy="5852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78224" cy="585216"/>
            </a:xfrm>
            <a:custGeom>
              <a:avLst/>
              <a:gdLst/>
              <a:ahLst/>
              <a:cxnLst/>
              <a:rect r="r" b="b" t="t" l="l"/>
              <a:pathLst>
                <a:path h="585216" w="4078224">
                  <a:moveTo>
                    <a:pt x="0" y="0"/>
                  </a:moveTo>
                  <a:lnTo>
                    <a:pt x="4078224" y="0"/>
                  </a:lnTo>
                  <a:lnTo>
                    <a:pt x="4078224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786" r="0" b="-8578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078224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Contraseña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9848" y="5596128"/>
            <a:ext cx="3278124" cy="466344"/>
            <a:chOff x="0" y="0"/>
            <a:chExt cx="4370832" cy="6217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370832" cy="621792"/>
            </a:xfrm>
            <a:custGeom>
              <a:avLst/>
              <a:gdLst/>
              <a:ahLst/>
              <a:cxnLst/>
              <a:rect r="r" b="b" t="t" l="l"/>
              <a:pathLst>
                <a:path h="621792" w="4370832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lnTo>
                    <a:pt x="4261104" y="0"/>
                  </a:lnTo>
                  <a:cubicBezTo>
                    <a:pt x="4321683" y="0"/>
                    <a:pt x="4370832" y="49149"/>
                    <a:pt x="4370832" y="109728"/>
                  </a:cubicBezTo>
                  <a:lnTo>
                    <a:pt x="4370832" y="512064"/>
                  </a:lnTo>
                  <a:cubicBezTo>
                    <a:pt x="4370832" y="572643"/>
                    <a:pt x="4321683" y="621792"/>
                    <a:pt x="4261104" y="621792"/>
                  </a:cubicBezTo>
                  <a:lnTo>
                    <a:pt x="109728" y="621792"/>
                  </a:lnTo>
                  <a:cubicBezTo>
                    <a:pt x="49149" y="621792"/>
                    <a:pt x="0" y="572643"/>
                    <a:pt x="0" y="51206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69848" y="5596128"/>
            <a:ext cx="3278124" cy="466344"/>
            <a:chOff x="0" y="0"/>
            <a:chExt cx="4370832" cy="621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370832" cy="621792"/>
            </a:xfrm>
            <a:custGeom>
              <a:avLst/>
              <a:gdLst/>
              <a:ahLst/>
              <a:cxnLst/>
              <a:rect r="r" b="b" t="t" l="l"/>
              <a:pathLst>
                <a:path h="621792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68" r="0" b="-8696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370832" cy="6503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Ingresar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992053" y="2523172"/>
            <a:ext cx="3800475" cy="6269355"/>
            <a:chOff x="0" y="0"/>
            <a:chExt cx="5067300" cy="8359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67300" cy="8359139"/>
            </a:xfrm>
            <a:custGeom>
              <a:avLst/>
              <a:gdLst/>
              <a:ahLst/>
              <a:cxnLst/>
              <a:rect r="r" b="b" t="t" l="l"/>
              <a:pathLst>
                <a:path h="8359139" w="506730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846193" y="0"/>
                  </a:lnTo>
                  <a:cubicBezTo>
                    <a:pt x="4968240" y="0"/>
                    <a:pt x="5067300" y="99060"/>
                    <a:pt x="5067300" y="221107"/>
                  </a:cubicBezTo>
                  <a:lnTo>
                    <a:pt x="5067300" y="8138033"/>
                  </a:lnTo>
                  <a:cubicBezTo>
                    <a:pt x="5067300" y="8260207"/>
                    <a:pt x="4968240" y="8359139"/>
                    <a:pt x="4846193" y="8359139"/>
                  </a:cubicBezTo>
                  <a:lnTo>
                    <a:pt x="221107" y="8359139"/>
                  </a:lnTo>
                  <a:cubicBezTo>
                    <a:pt x="99060" y="8359140"/>
                    <a:pt x="0" y="8260080"/>
                    <a:pt x="0" y="813803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7C6C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116068" y="2647188"/>
            <a:ext cx="3552444" cy="438912"/>
            <a:chOff x="0" y="0"/>
            <a:chExt cx="4736592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5116068" y="2647188"/>
            <a:ext cx="3552444" cy="438912"/>
            <a:chOff x="0" y="0"/>
            <a:chExt cx="4736592" cy="58521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07" r="0" b="-10770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473659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Informe / Dashboard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253228" y="3291840"/>
            <a:ext cx="3278124" cy="685800"/>
            <a:chOff x="0" y="0"/>
            <a:chExt cx="4370832" cy="914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70832" cy="914400"/>
            </a:xfrm>
            <a:custGeom>
              <a:avLst/>
              <a:gdLst/>
              <a:ahLst/>
              <a:cxnLst/>
              <a:rect r="r" b="b" t="t" l="l"/>
              <a:pathLst>
                <a:path h="91440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8F1F5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362956" y="3291840"/>
            <a:ext cx="3058668" cy="685800"/>
            <a:chOff x="0" y="0"/>
            <a:chExt cx="4078224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078224" cy="914400"/>
            </a:xfrm>
            <a:custGeom>
              <a:avLst/>
              <a:gdLst/>
              <a:ahLst/>
              <a:cxnLst/>
              <a:rect r="r" b="b" t="t" l="l"/>
              <a:pathLst>
                <a:path h="914400" w="4078224">
                  <a:moveTo>
                    <a:pt x="0" y="0"/>
                  </a:moveTo>
                  <a:lnTo>
                    <a:pt x="4078224" y="0"/>
                  </a:lnTo>
                  <a:lnTo>
                    <a:pt x="4078224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03" r="0" b="-3690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078224" cy="9429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Sueldo mensual: $650.000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5253228" y="4766310"/>
            <a:ext cx="737235" cy="336042"/>
            <a:chOff x="0" y="0"/>
            <a:chExt cx="982980" cy="44805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82980" cy="448056"/>
            </a:xfrm>
            <a:custGeom>
              <a:avLst/>
              <a:gdLst/>
              <a:ahLst/>
              <a:cxnLst/>
              <a:rect r="r" b="b" t="t" l="l"/>
              <a:pathLst>
                <a:path h="448056" w="982980">
                  <a:moveTo>
                    <a:pt x="0" y="0"/>
                  </a:moveTo>
                  <a:lnTo>
                    <a:pt x="982980" y="0"/>
                  </a:lnTo>
                  <a:lnTo>
                    <a:pt x="982980" y="448056"/>
                  </a:lnTo>
                  <a:lnTo>
                    <a:pt x="0" y="448056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072759" y="4574286"/>
            <a:ext cx="737235" cy="528066"/>
            <a:chOff x="0" y="0"/>
            <a:chExt cx="982980" cy="70408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2980" cy="704088"/>
            </a:xfrm>
            <a:custGeom>
              <a:avLst/>
              <a:gdLst/>
              <a:ahLst/>
              <a:cxnLst/>
              <a:rect r="r" b="b" t="t" l="l"/>
              <a:pathLst>
                <a:path h="704088" w="982980">
                  <a:moveTo>
                    <a:pt x="0" y="0"/>
                  </a:moveTo>
                  <a:lnTo>
                    <a:pt x="982980" y="0"/>
                  </a:lnTo>
                  <a:lnTo>
                    <a:pt x="982980" y="704088"/>
                  </a:lnTo>
                  <a:lnTo>
                    <a:pt x="0" y="704088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892290" y="4862322"/>
            <a:ext cx="737235" cy="240030"/>
            <a:chOff x="0" y="0"/>
            <a:chExt cx="982980" cy="3200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82980" cy="320040"/>
            </a:xfrm>
            <a:custGeom>
              <a:avLst/>
              <a:gdLst/>
              <a:ahLst/>
              <a:cxnLst/>
              <a:rect r="r" b="b" t="t" l="l"/>
              <a:pathLst>
                <a:path h="320040" w="982980">
                  <a:moveTo>
                    <a:pt x="0" y="0"/>
                  </a:moveTo>
                  <a:lnTo>
                    <a:pt x="982980" y="0"/>
                  </a:lnTo>
                  <a:lnTo>
                    <a:pt x="982980" y="32004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711821" y="4670298"/>
            <a:ext cx="737235" cy="432054"/>
            <a:chOff x="0" y="0"/>
            <a:chExt cx="982980" cy="57607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82980" cy="576072"/>
            </a:xfrm>
            <a:custGeom>
              <a:avLst/>
              <a:gdLst/>
              <a:ahLst/>
              <a:cxnLst/>
              <a:rect r="r" b="b" t="t" l="l"/>
              <a:pathLst>
                <a:path h="576072" w="982980">
                  <a:moveTo>
                    <a:pt x="0" y="0"/>
                  </a:moveTo>
                  <a:lnTo>
                    <a:pt x="982980" y="0"/>
                  </a:lnTo>
                  <a:lnTo>
                    <a:pt x="982980" y="576072"/>
                  </a:lnTo>
                  <a:lnTo>
                    <a:pt x="0" y="576072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246084" y="5300948"/>
            <a:ext cx="3292412" cy="425768"/>
            <a:chOff x="0" y="0"/>
            <a:chExt cx="4389882" cy="56769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389882" cy="567690"/>
            </a:xfrm>
            <a:custGeom>
              <a:avLst/>
              <a:gdLst/>
              <a:ahLst/>
              <a:cxnLst/>
              <a:rect r="r" b="b" t="t" l="l"/>
              <a:pathLst>
                <a:path h="567690" w="4389882">
                  <a:moveTo>
                    <a:pt x="0" y="0"/>
                  </a:moveTo>
                  <a:lnTo>
                    <a:pt x="4389882" y="0"/>
                  </a:lnTo>
                  <a:lnTo>
                    <a:pt x="4389882" y="567690"/>
                  </a:lnTo>
                  <a:lnTo>
                    <a:pt x="0" y="567690"/>
                  </a:lnTo>
                  <a:close/>
                </a:path>
              </a:pathLst>
            </a:custGeom>
            <a:solidFill>
              <a:srgbClr val="F4F8FA"/>
            </a:solidFill>
            <a:ln w="14288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5362956" y="5308092"/>
            <a:ext cx="3058668" cy="411480"/>
            <a:chOff x="0" y="0"/>
            <a:chExt cx="4078224" cy="548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78224" cy="548640"/>
            </a:xfrm>
            <a:custGeom>
              <a:avLst/>
              <a:gdLst/>
              <a:ahLst/>
              <a:cxnLst/>
              <a:rect r="r" b="b" t="t" l="l"/>
              <a:pathLst>
                <a:path h="548640" w="4078224">
                  <a:moveTo>
                    <a:pt x="0" y="0"/>
                  </a:moveTo>
                  <a:lnTo>
                    <a:pt x="4078224" y="0"/>
                  </a:lnTo>
                  <a:lnTo>
                    <a:pt x="407822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838" r="0" b="-9483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4078224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Ahorro sugerido: $48.000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75432" y="2523172"/>
            <a:ext cx="3800475" cy="6269355"/>
            <a:chOff x="0" y="0"/>
            <a:chExt cx="5067300" cy="83591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067300" cy="8359139"/>
            </a:xfrm>
            <a:custGeom>
              <a:avLst/>
              <a:gdLst/>
              <a:ahLst/>
              <a:cxnLst/>
              <a:rect r="r" b="b" t="t" l="l"/>
              <a:pathLst>
                <a:path h="8359139" w="506730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846193" y="0"/>
                  </a:lnTo>
                  <a:cubicBezTo>
                    <a:pt x="4968240" y="0"/>
                    <a:pt x="5067300" y="99060"/>
                    <a:pt x="5067300" y="221107"/>
                  </a:cubicBezTo>
                  <a:lnTo>
                    <a:pt x="5067300" y="8138033"/>
                  </a:lnTo>
                  <a:cubicBezTo>
                    <a:pt x="5067300" y="8260207"/>
                    <a:pt x="4968240" y="8359139"/>
                    <a:pt x="4846193" y="8359139"/>
                  </a:cubicBezTo>
                  <a:lnTo>
                    <a:pt x="221107" y="8359139"/>
                  </a:lnTo>
                  <a:cubicBezTo>
                    <a:pt x="99060" y="8359140"/>
                    <a:pt x="0" y="8260080"/>
                    <a:pt x="0" y="813803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7C6C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299448" y="2647188"/>
            <a:ext cx="3552444" cy="438912"/>
            <a:chOff x="0" y="0"/>
            <a:chExt cx="4736592" cy="58521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299448" y="2647188"/>
            <a:ext cx="3552444" cy="438912"/>
            <a:chOff x="0" y="0"/>
            <a:chExt cx="4736592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07" r="0" b="-1077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473659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Ingresos y gastos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429464" y="3284696"/>
            <a:ext cx="3292412" cy="508064"/>
            <a:chOff x="0" y="0"/>
            <a:chExt cx="4389882" cy="67741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89882" cy="677418"/>
            </a:xfrm>
            <a:custGeom>
              <a:avLst/>
              <a:gdLst/>
              <a:ahLst/>
              <a:cxnLst/>
              <a:rect r="r" b="b" t="t" l="l"/>
              <a:pathLst>
                <a:path h="677418" w="4389882">
                  <a:moveTo>
                    <a:pt x="0" y="0"/>
                  </a:moveTo>
                  <a:lnTo>
                    <a:pt x="4389882" y="0"/>
                  </a:lnTo>
                  <a:lnTo>
                    <a:pt x="4389882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4F8FA"/>
            </a:solidFill>
            <a:ln w="14288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9546336" y="3291840"/>
            <a:ext cx="1966874" cy="493776"/>
            <a:chOff x="0" y="0"/>
            <a:chExt cx="2622499" cy="658368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22500" cy="658368"/>
            </a:xfrm>
            <a:custGeom>
              <a:avLst/>
              <a:gdLst/>
              <a:ahLst/>
              <a:cxnLst/>
              <a:rect r="r" b="b" t="t" l="l"/>
              <a:pathLst>
                <a:path h="658368" w="2622500">
                  <a:moveTo>
                    <a:pt x="0" y="0"/>
                  </a:moveTo>
                  <a:lnTo>
                    <a:pt x="2622500" y="0"/>
                  </a:lnTo>
                  <a:lnTo>
                    <a:pt x="26225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15" r="0" b="-2761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2622499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Arriendo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303252" y="3401568"/>
            <a:ext cx="274320" cy="274320"/>
            <a:chOff x="0" y="0"/>
            <a:chExt cx="365760" cy="365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429464" y="3888200"/>
            <a:ext cx="3292412" cy="508064"/>
            <a:chOff x="0" y="0"/>
            <a:chExt cx="4389882" cy="67741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882" cy="677418"/>
            </a:xfrm>
            <a:custGeom>
              <a:avLst/>
              <a:gdLst/>
              <a:ahLst/>
              <a:cxnLst/>
              <a:rect r="r" b="b" t="t" l="l"/>
              <a:pathLst>
                <a:path h="677418" w="4389882">
                  <a:moveTo>
                    <a:pt x="0" y="0"/>
                  </a:moveTo>
                  <a:lnTo>
                    <a:pt x="4389882" y="0"/>
                  </a:lnTo>
                  <a:lnTo>
                    <a:pt x="4389882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4F8FA"/>
            </a:solidFill>
            <a:ln w="14288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9546336" y="3895344"/>
            <a:ext cx="1966874" cy="493776"/>
            <a:chOff x="0" y="0"/>
            <a:chExt cx="2622499" cy="65836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22500" cy="658368"/>
            </a:xfrm>
            <a:custGeom>
              <a:avLst/>
              <a:gdLst/>
              <a:ahLst/>
              <a:cxnLst/>
              <a:rect r="r" b="b" t="t" l="l"/>
              <a:pathLst>
                <a:path h="658368" w="2622500">
                  <a:moveTo>
                    <a:pt x="0" y="0"/>
                  </a:moveTo>
                  <a:lnTo>
                    <a:pt x="2622500" y="0"/>
                  </a:lnTo>
                  <a:lnTo>
                    <a:pt x="26225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15" r="0" b="-2761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2622499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Internet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303252" y="4005072"/>
            <a:ext cx="274320" cy="274320"/>
            <a:chOff x="0" y="0"/>
            <a:chExt cx="365760" cy="3657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429464" y="4491704"/>
            <a:ext cx="3292412" cy="508064"/>
            <a:chOff x="0" y="0"/>
            <a:chExt cx="4389882" cy="67741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4389882" cy="677418"/>
            </a:xfrm>
            <a:custGeom>
              <a:avLst/>
              <a:gdLst/>
              <a:ahLst/>
              <a:cxnLst/>
              <a:rect r="r" b="b" t="t" l="l"/>
              <a:pathLst>
                <a:path h="677418" w="4389882">
                  <a:moveTo>
                    <a:pt x="0" y="0"/>
                  </a:moveTo>
                  <a:lnTo>
                    <a:pt x="4389882" y="0"/>
                  </a:lnTo>
                  <a:lnTo>
                    <a:pt x="4389882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4F8FA"/>
            </a:solidFill>
            <a:ln w="14288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546336" y="4498848"/>
            <a:ext cx="1966874" cy="493776"/>
            <a:chOff x="0" y="0"/>
            <a:chExt cx="2622499" cy="65836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622500" cy="658368"/>
            </a:xfrm>
            <a:custGeom>
              <a:avLst/>
              <a:gdLst/>
              <a:ahLst/>
              <a:cxnLst/>
              <a:rect r="r" b="b" t="t" l="l"/>
              <a:pathLst>
                <a:path h="658368" w="2622500">
                  <a:moveTo>
                    <a:pt x="0" y="0"/>
                  </a:moveTo>
                  <a:lnTo>
                    <a:pt x="2622500" y="0"/>
                  </a:lnTo>
                  <a:lnTo>
                    <a:pt x="26225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15" r="0" b="-2761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2622499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Gastos hormiga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303252" y="4608576"/>
            <a:ext cx="274320" cy="274320"/>
            <a:chOff x="0" y="0"/>
            <a:chExt cx="365760" cy="3657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429464" y="5095208"/>
            <a:ext cx="3292412" cy="508064"/>
            <a:chOff x="0" y="0"/>
            <a:chExt cx="4389882" cy="67741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389882" cy="677418"/>
            </a:xfrm>
            <a:custGeom>
              <a:avLst/>
              <a:gdLst/>
              <a:ahLst/>
              <a:cxnLst/>
              <a:rect r="r" b="b" t="t" l="l"/>
              <a:pathLst>
                <a:path h="677418" w="4389882">
                  <a:moveTo>
                    <a:pt x="0" y="0"/>
                  </a:moveTo>
                  <a:lnTo>
                    <a:pt x="4389882" y="0"/>
                  </a:lnTo>
                  <a:lnTo>
                    <a:pt x="4389882" y="677418"/>
                  </a:lnTo>
                  <a:lnTo>
                    <a:pt x="0" y="677418"/>
                  </a:lnTo>
                  <a:close/>
                </a:path>
              </a:pathLst>
            </a:custGeom>
            <a:solidFill>
              <a:srgbClr val="F4F8FA"/>
            </a:solidFill>
            <a:ln w="14288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546336" y="5102352"/>
            <a:ext cx="1966874" cy="493776"/>
            <a:chOff x="0" y="0"/>
            <a:chExt cx="2622499" cy="6583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622500" cy="658368"/>
            </a:xfrm>
            <a:custGeom>
              <a:avLst/>
              <a:gdLst/>
              <a:ahLst/>
              <a:cxnLst/>
              <a:rect r="r" b="b" t="t" l="l"/>
              <a:pathLst>
                <a:path h="658368" w="2622500">
                  <a:moveTo>
                    <a:pt x="0" y="0"/>
                  </a:moveTo>
                  <a:lnTo>
                    <a:pt x="2622500" y="0"/>
                  </a:lnTo>
                  <a:lnTo>
                    <a:pt x="26225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615" r="0" b="-2761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2622499" cy="677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Streaming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2303252" y="5212080"/>
            <a:ext cx="274320" cy="274320"/>
            <a:chOff x="0" y="0"/>
            <a:chExt cx="365760" cy="36576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436608" y="5788152"/>
            <a:ext cx="3278124" cy="438912"/>
            <a:chOff x="0" y="0"/>
            <a:chExt cx="4370832" cy="58521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70832" cy="585216"/>
            </a:xfrm>
            <a:custGeom>
              <a:avLst/>
              <a:gdLst/>
              <a:ahLst/>
              <a:cxnLst/>
              <a:rect r="r" b="b" t="t" l="l"/>
              <a:pathLst>
                <a:path h="585216" w="4370832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078224" y="0"/>
                  </a:lnTo>
                  <a:cubicBezTo>
                    <a:pt x="4239768" y="0"/>
                    <a:pt x="4370832" y="131064"/>
                    <a:pt x="4370832" y="292608"/>
                  </a:cubicBezTo>
                  <a:cubicBezTo>
                    <a:pt x="4370832" y="454152"/>
                    <a:pt x="4239768" y="585216"/>
                    <a:pt x="4078224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436608" y="5788152"/>
            <a:ext cx="3278124" cy="438912"/>
            <a:chOff x="0" y="0"/>
            <a:chExt cx="4370832" cy="58521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370832" cy="585216"/>
            </a:xfrm>
            <a:custGeom>
              <a:avLst/>
              <a:gdLst/>
              <a:ahLst/>
              <a:cxnLst/>
              <a:rect r="r" b="b" t="t" l="l"/>
              <a:pathLst>
                <a:path h="585216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528" r="0" b="-95528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437083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Agregar gasto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3358812" y="2523172"/>
            <a:ext cx="3800475" cy="6269355"/>
            <a:chOff x="0" y="0"/>
            <a:chExt cx="5067300" cy="83591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067300" cy="8359139"/>
            </a:xfrm>
            <a:custGeom>
              <a:avLst/>
              <a:gdLst/>
              <a:ahLst/>
              <a:cxnLst/>
              <a:rect r="r" b="b" t="t" l="l"/>
              <a:pathLst>
                <a:path h="8359139" w="5067300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4846193" y="0"/>
                  </a:lnTo>
                  <a:cubicBezTo>
                    <a:pt x="4968240" y="0"/>
                    <a:pt x="5067300" y="99060"/>
                    <a:pt x="5067300" y="221107"/>
                  </a:cubicBezTo>
                  <a:lnTo>
                    <a:pt x="5067300" y="8138033"/>
                  </a:lnTo>
                  <a:cubicBezTo>
                    <a:pt x="5067300" y="8260207"/>
                    <a:pt x="4968240" y="8359139"/>
                    <a:pt x="4846193" y="8359139"/>
                  </a:cubicBezTo>
                  <a:lnTo>
                    <a:pt x="221107" y="8359139"/>
                  </a:lnTo>
                  <a:cubicBezTo>
                    <a:pt x="99060" y="8359140"/>
                    <a:pt x="0" y="8260080"/>
                    <a:pt x="0" y="8138033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B7C6CE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3482828" y="2647188"/>
            <a:ext cx="3552444" cy="438912"/>
            <a:chOff x="0" y="0"/>
            <a:chExt cx="4736592" cy="58521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482828" y="2647188"/>
            <a:ext cx="3552444" cy="438912"/>
            <a:chOff x="0" y="0"/>
            <a:chExt cx="4736592" cy="58521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736592" cy="585216"/>
            </a:xfrm>
            <a:custGeom>
              <a:avLst/>
              <a:gdLst/>
              <a:ahLst/>
              <a:cxnLst/>
              <a:rect r="r" b="b" t="t" l="l"/>
              <a:pathLst>
                <a:path h="585216" w="4736592">
                  <a:moveTo>
                    <a:pt x="0" y="0"/>
                  </a:moveTo>
                  <a:lnTo>
                    <a:pt x="4736592" y="0"/>
                  </a:lnTo>
                  <a:lnTo>
                    <a:pt x="473659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07" r="0" b="-10770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473659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Gestión de deudas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619988" y="3291840"/>
            <a:ext cx="3278124" cy="754380"/>
            <a:chOff x="0" y="0"/>
            <a:chExt cx="4370832" cy="10058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370832" cy="1005840"/>
            </a:xfrm>
            <a:custGeom>
              <a:avLst/>
              <a:gdLst/>
              <a:ahLst/>
              <a:cxnLst/>
              <a:rect r="r" b="b" t="t" l="l"/>
              <a:pathLst>
                <a:path h="100584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3729716" y="3291840"/>
            <a:ext cx="3058668" cy="754380"/>
            <a:chOff x="0" y="0"/>
            <a:chExt cx="4078224" cy="10058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4078224" cy="1005840"/>
            </a:xfrm>
            <a:custGeom>
              <a:avLst/>
              <a:gdLst/>
              <a:ahLst/>
              <a:cxnLst/>
              <a:rect r="r" b="b" t="t" l="l"/>
              <a:pathLst>
                <a:path h="1005840" w="4078224">
                  <a:moveTo>
                    <a:pt x="0" y="0"/>
                  </a:moveTo>
                  <a:lnTo>
                    <a:pt x="4078224" y="0"/>
                  </a:lnTo>
                  <a:lnTo>
                    <a:pt x="4078224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02" r="0" b="-29002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28575"/>
              <a:ext cx="4078224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Deuda total: $320.000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3615226" y="4206050"/>
            <a:ext cx="3287649" cy="256413"/>
            <a:chOff x="0" y="0"/>
            <a:chExt cx="4383532" cy="341884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383532" cy="341884"/>
            </a:xfrm>
            <a:custGeom>
              <a:avLst/>
              <a:gdLst/>
              <a:ahLst/>
              <a:cxnLst/>
              <a:rect r="r" b="b" t="t" l="l"/>
              <a:pathLst>
                <a:path h="341884" w="4383532">
                  <a:moveTo>
                    <a:pt x="0" y="0"/>
                  </a:moveTo>
                  <a:lnTo>
                    <a:pt x="4383532" y="0"/>
                  </a:lnTo>
                  <a:lnTo>
                    <a:pt x="4383532" y="341884"/>
                  </a:lnTo>
                  <a:lnTo>
                    <a:pt x="0" y="341884"/>
                  </a:lnTo>
                  <a:close/>
                </a:path>
              </a:pathLst>
            </a:custGeom>
            <a:solidFill>
              <a:srgbClr val="F4F8FA"/>
            </a:solidFill>
            <a:ln w="9525" cap="sq">
              <a:solidFill>
                <a:srgbClr val="C7D6DC"/>
              </a:solidFill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3619988" y="4210812"/>
            <a:ext cx="1311250" cy="246888"/>
            <a:chOff x="0" y="0"/>
            <a:chExt cx="1748333" cy="3291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748282" cy="329184"/>
            </a:xfrm>
            <a:custGeom>
              <a:avLst/>
              <a:gdLst/>
              <a:ahLst/>
              <a:cxnLst/>
              <a:rect r="r" b="b" t="t" l="l"/>
              <a:pathLst>
                <a:path h="329184" w="1748282">
                  <a:moveTo>
                    <a:pt x="0" y="0"/>
                  </a:moveTo>
                  <a:lnTo>
                    <a:pt x="1748282" y="0"/>
                  </a:lnTo>
                  <a:lnTo>
                    <a:pt x="1748282" y="329184"/>
                  </a:lnTo>
                  <a:lnTo>
                    <a:pt x="0" y="329184"/>
                  </a:ln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13619988" y="4677156"/>
            <a:ext cx="3278124" cy="411480"/>
            <a:chOff x="0" y="0"/>
            <a:chExt cx="4370832" cy="5486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370832" cy="548640"/>
            </a:xfrm>
            <a:custGeom>
              <a:avLst/>
              <a:gdLst/>
              <a:ahLst/>
              <a:cxnLst/>
              <a:rect r="r" b="b" t="t" l="l"/>
              <a:pathLst>
                <a:path h="548640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230" r="0" b="-10523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19050"/>
              <a:ext cx="4370832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sugerido: 4 cuotas de $80.000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3619988" y="5253228"/>
            <a:ext cx="3278124" cy="438912"/>
            <a:chOff x="0" y="0"/>
            <a:chExt cx="4370832" cy="585216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4370832" cy="585216"/>
            </a:xfrm>
            <a:custGeom>
              <a:avLst/>
              <a:gdLst/>
              <a:ahLst/>
              <a:cxnLst/>
              <a:rect r="r" b="b" t="t" l="l"/>
              <a:pathLst>
                <a:path h="585216" w="4370832">
                  <a:moveTo>
                    <a:pt x="0" y="292608"/>
                  </a:moveTo>
                  <a:cubicBezTo>
                    <a:pt x="0" y="131064"/>
                    <a:pt x="131064" y="0"/>
                    <a:pt x="292608" y="0"/>
                  </a:cubicBezTo>
                  <a:lnTo>
                    <a:pt x="4078224" y="0"/>
                  </a:lnTo>
                  <a:cubicBezTo>
                    <a:pt x="4239768" y="0"/>
                    <a:pt x="4370832" y="131064"/>
                    <a:pt x="4370832" y="292608"/>
                  </a:cubicBezTo>
                  <a:cubicBezTo>
                    <a:pt x="4370832" y="454152"/>
                    <a:pt x="4239768" y="585216"/>
                    <a:pt x="4078224" y="585216"/>
                  </a:cubicBezTo>
                  <a:lnTo>
                    <a:pt x="292608" y="585216"/>
                  </a:lnTo>
                  <a:cubicBezTo>
                    <a:pt x="131064" y="585216"/>
                    <a:pt x="0" y="454152"/>
                    <a:pt x="0" y="29260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13619988" y="5253228"/>
            <a:ext cx="3278124" cy="438912"/>
            <a:chOff x="0" y="0"/>
            <a:chExt cx="4370832" cy="585216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370832" cy="585216"/>
            </a:xfrm>
            <a:custGeom>
              <a:avLst/>
              <a:gdLst/>
              <a:ahLst/>
              <a:cxnLst/>
              <a:rect r="r" b="b" t="t" l="l"/>
              <a:pathLst>
                <a:path h="585216" w="4370832">
                  <a:moveTo>
                    <a:pt x="0" y="0"/>
                  </a:moveTo>
                  <a:lnTo>
                    <a:pt x="4370832" y="0"/>
                  </a:lnTo>
                  <a:lnTo>
                    <a:pt x="4370832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528" r="0" b="-95528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4370832" cy="6137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 estrategia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813435" y="9043035"/>
            <a:ext cx="16615410" cy="773430"/>
            <a:chOff x="0" y="0"/>
            <a:chExt cx="22153880" cy="103124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2153880" cy="1031240"/>
            </a:xfrm>
            <a:custGeom>
              <a:avLst/>
              <a:gdLst/>
              <a:ahLst/>
              <a:cxnLst/>
              <a:rect r="r" b="b" t="t" l="l"/>
              <a:pathLst>
                <a:path h="1031240" w="22153880">
                  <a:moveTo>
                    <a:pt x="0" y="187452"/>
                  </a:moveTo>
                  <a:cubicBezTo>
                    <a:pt x="0" y="83947"/>
                    <a:pt x="83947" y="0"/>
                    <a:pt x="187452" y="0"/>
                  </a:cubicBezTo>
                  <a:lnTo>
                    <a:pt x="21966428" y="0"/>
                  </a:lnTo>
                  <a:cubicBezTo>
                    <a:pt x="22069933" y="0"/>
                    <a:pt x="22153880" y="83947"/>
                    <a:pt x="22153880" y="187452"/>
                  </a:cubicBezTo>
                  <a:lnTo>
                    <a:pt x="22153880" y="843788"/>
                  </a:lnTo>
                  <a:cubicBezTo>
                    <a:pt x="22153880" y="947293"/>
                    <a:pt x="22069933" y="1031240"/>
                    <a:pt x="21966428" y="1031240"/>
                  </a:cubicBezTo>
                  <a:lnTo>
                    <a:pt x="187452" y="1031240"/>
                  </a:lnTo>
                  <a:cubicBezTo>
                    <a:pt x="83947" y="1031240"/>
                    <a:pt x="0" y="947293"/>
                    <a:pt x="0" y="843788"/>
                  </a:cubicBezTo>
                  <a:close/>
                </a:path>
              </a:pathLst>
            </a:custGeom>
            <a:solidFill>
              <a:srgbClr val="E8F1F5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234440" y="9052560"/>
            <a:ext cx="15773400" cy="754380"/>
            <a:chOff x="0" y="0"/>
            <a:chExt cx="21031200" cy="100584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10312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414" r="0" b="-357414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21031200" cy="1043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1B273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Wireframes de baja fidelidad — la propuesta puede evolucionar durante el desarrollo del proyecto.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 · PROTOTIPO INICIAL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Flujo básico de navegación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3282315"/>
            <a:ext cx="3790950" cy="2762250"/>
            <a:chOff x="0" y="0"/>
            <a:chExt cx="5054600" cy="3683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4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505460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870450" y="0"/>
                  </a:lnTo>
                  <a:cubicBezTo>
                    <a:pt x="4972177" y="0"/>
                    <a:pt x="5054600" y="82423"/>
                    <a:pt x="5054600" y="184150"/>
                  </a:cubicBezTo>
                  <a:lnTo>
                    <a:pt x="5054600" y="3498850"/>
                  </a:lnTo>
                  <a:cubicBezTo>
                    <a:pt x="5054600" y="3600577"/>
                    <a:pt x="4972177" y="3683000"/>
                    <a:pt x="4870450" y="3683000"/>
                  </a:cubicBezTo>
                  <a:lnTo>
                    <a:pt x="184150" y="3683000"/>
                  </a:lnTo>
                  <a:cubicBezTo>
                    <a:pt x="82423" y="3683000"/>
                    <a:pt x="0" y="3600577"/>
                    <a:pt x="0" y="34988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65860" y="363474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65860" y="363474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65860" y="4526280"/>
            <a:ext cx="3086100" cy="480060"/>
            <a:chOff x="0" y="0"/>
            <a:chExt cx="4114800" cy="6400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1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11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Login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5860" y="5006340"/>
            <a:ext cx="3086100" cy="891540"/>
            <a:chOff x="0" y="0"/>
            <a:chExt cx="4114800" cy="11887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14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114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usuario inicia sesión o crea su perfil.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594860" y="4251960"/>
            <a:ext cx="480060" cy="822960"/>
            <a:chOff x="0" y="0"/>
            <a:chExt cx="640080" cy="1097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0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6400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065395" y="3282315"/>
            <a:ext cx="3790950" cy="2762250"/>
            <a:chOff x="0" y="0"/>
            <a:chExt cx="5054600" cy="3683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054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505460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870450" y="0"/>
                  </a:lnTo>
                  <a:cubicBezTo>
                    <a:pt x="4972177" y="0"/>
                    <a:pt x="5054600" y="82423"/>
                    <a:pt x="5054600" y="184150"/>
                  </a:cubicBezTo>
                  <a:lnTo>
                    <a:pt x="5054600" y="3498850"/>
                  </a:lnTo>
                  <a:cubicBezTo>
                    <a:pt x="5054600" y="3600577"/>
                    <a:pt x="4972177" y="3683000"/>
                    <a:pt x="4870450" y="3683000"/>
                  </a:cubicBezTo>
                  <a:lnTo>
                    <a:pt x="184150" y="3683000"/>
                  </a:lnTo>
                  <a:cubicBezTo>
                    <a:pt x="82423" y="3683000"/>
                    <a:pt x="0" y="3600577"/>
                    <a:pt x="0" y="34988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417820" y="3634740"/>
            <a:ext cx="685800" cy="685800"/>
            <a:chOff x="0" y="0"/>
            <a:chExt cx="914400" cy="914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417820" y="3634740"/>
            <a:ext cx="685800" cy="685800"/>
            <a:chOff x="0" y="0"/>
            <a:chExt cx="91440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417820" y="4526280"/>
            <a:ext cx="3086100" cy="480060"/>
            <a:chOff x="0" y="0"/>
            <a:chExt cx="4114800" cy="6400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1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11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5417820" y="5006340"/>
            <a:ext cx="3086100" cy="891540"/>
            <a:chOff x="0" y="0"/>
            <a:chExt cx="4114800" cy="11887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14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4114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Ve su sueldo, informe visual y ahorro sugerido.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846820" y="4251960"/>
            <a:ext cx="480060" cy="822960"/>
            <a:chOff x="0" y="0"/>
            <a:chExt cx="64008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0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400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317355" y="3282315"/>
            <a:ext cx="3790950" cy="2762250"/>
            <a:chOff x="0" y="0"/>
            <a:chExt cx="5054600" cy="3683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54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505460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870450" y="0"/>
                  </a:lnTo>
                  <a:cubicBezTo>
                    <a:pt x="4972177" y="0"/>
                    <a:pt x="5054600" y="82423"/>
                    <a:pt x="5054600" y="184150"/>
                  </a:cubicBezTo>
                  <a:lnTo>
                    <a:pt x="5054600" y="3498850"/>
                  </a:lnTo>
                  <a:cubicBezTo>
                    <a:pt x="5054600" y="3600577"/>
                    <a:pt x="4972177" y="3683000"/>
                    <a:pt x="4870450" y="3683000"/>
                  </a:cubicBezTo>
                  <a:lnTo>
                    <a:pt x="184150" y="3683000"/>
                  </a:lnTo>
                  <a:cubicBezTo>
                    <a:pt x="82423" y="3683000"/>
                    <a:pt x="0" y="3600577"/>
                    <a:pt x="0" y="34988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669780" y="3634740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69780" y="3634740"/>
            <a:ext cx="685800" cy="685800"/>
            <a:chOff x="0" y="0"/>
            <a:chExt cx="914400" cy="914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69780" y="4526280"/>
            <a:ext cx="3086100" cy="480060"/>
            <a:chOff x="0" y="0"/>
            <a:chExt cx="4114800" cy="640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1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411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Ingresos / gastos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69780" y="5006340"/>
            <a:ext cx="3086100" cy="891540"/>
            <a:chOff x="0" y="0"/>
            <a:chExt cx="4114800" cy="1188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14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4114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Registra o actualiza gastos fijos, variables y hormiga.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098780" y="4251960"/>
            <a:ext cx="480060" cy="822960"/>
            <a:chOff x="0" y="0"/>
            <a:chExt cx="6400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0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9948" t="0" r="-16994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6400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69315" y="3282315"/>
            <a:ext cx="3790950" cy="2762250"/>
            <a:chOff x="0" y="0"/>
            <a:chExt cx="5054600" cy="36830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54600" cy="3683000"/>
            </a:xfrm>
            <a:custGeom>
              <a:avLst/>
              <a:gdLst/>
              <a:ahLst/>
              <a:cxnLst/>
              <a:rect r="r" b="b" t="t" l="l"/>
              <a:pathLst>
                <a:path h="3683000" w="5054600">
                  <a:moveTo>
                    <a:pt x="0" y="184150"/>
                  </a:moveTo>
                  <a:cubicBezTo>
                    <a:pt x="0" y="82423"/>
                    <a:pt x="82423" y="0"/>
                    <a:pt x="184150" y="0"/>
                  </a:cubicBezTo>
                  <a:lnTo>
                    <a:pt x="4870450" y="0"/>
                  </a:lnTo>
                  <a:cubicBezTo>
                    <a:pt x="4972177" y="0"/>
                    <a:pt x="5054600" y="82423"/>
                    <a:pt x="5054600" y="184150"/>
                  </a:cubicBezTo>
                  <a:lnTo>
                    <a:pt x="5054600" y="3498850"/>
                  </a:lnTo>
                  <a:cubicBezTo>
                    <a:pt x="5054600" y="3600577"/>
                    <a:pt x="4972177" y="3683000"/>
                    <a:pt x="4870450" y="3683000"/>
                  </a:cubicBezTo>
                  <a:lnTo>
                    <a:pt x="184150" y="3683000"/>
                  </a:lnTo>
                  <a:cubicBezTo>
                    <a:pt x="82423" y="3683000"/>
                    <a:pt x="0" y="3600577"/>
                    <a:pt x="0" y="349885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921740" y="3634740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921740" y="3634740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921740" y="4526280"/>
            <a:ext cx="3086100" cy="480060"/>
            <a:chOff x="0" y="0"/>
            <a:chExt cx="4114800" cy="6400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14800" cy="640080"/>
            </a:xfrm>
            <a:custGeom>
              <a:avLst/>
              <a:gdLst/>
              <a:ahLst/>
              <a:cxnLst/>
              <a:rect r="r" b="b" t="t" l="l"/>
              <a:pathLst>
                <a:path h="64008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411480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Gestión de deudas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921740" y="5006340"/>
            <a:ext cx="3086100" cy="891540"/>
            <a:chOff x="0" y="0"/>
            <a:chExt cx="4114800" cy="118872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1148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4114800">
                  <a:moveTo>
                    <a:pt x="0" y="0"/>
                  </a:moveTo>
                  <a:lnTo>
                    <a:pt x="4114800" y="0"/>
                  </a:lnTo>
                  <a:lnTo>
                    <a:pt x="41148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48" r="0" b="-1744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4114800" cy="1207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Consulta el plan de pago sugerido según su situación.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822960" y="6720840"/>
            <a:ext cx="16596360" cy="2331720"/>
            <a:chOff x="0" y="0"/>
            <a:chExt cx="22128480" cy="31089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1284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22128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945600" y="0"/>
                  </a:lnTo>
                  <a:cubicBezTo>
                    <a:pt x="22046564" y="0"/>
                    <a:pt x="22128480" y="81915"/>
                    <a:pt x="22128480" y="182880"/>
                  </a:cubicBezTo>
                  <a:lnTo>
                    <a:pt x="22128480" y="2926080"/>
                  </a:lnTo>
                  <a:cubicBezTo>
                    <a:pt x="22128480" y="3027045"/>
                    <a:pt x="22046564" y="3108960"/>
                    <a:pt x="21945600" y="3108960"/>
                  </a:cubicBezTo>
                  <a:lnTo>
                    <a:pt x="182880" y="3108960"/>
                  </a:lnTo>
                  <a:cubicBezTo>
                    <a:pt x="81915" y="3108960"/>
                    <a:pt x="0" y="3027045"/>
                    <a:pt x="0" y="292608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03020" y="6995160"/>
            <a:ext cx="10972800" cy="411480"/>
            <a:chOff x="0" y="0"/>
            <a:chExt cx="14630400" cy="5486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14630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150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¿CÓMO RESPONDE A LA PROBLEMÁTICA?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03020" y="7475220"/>
            <a:ext cx="15636240" cy="1371600"/>
            <a:chOff x="0" y="0"/>
            <a:chExt cx="20848320" cy="18288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8483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129" r="0" b="-17212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20848320" cy="187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flujo lleva al usuario desde el registro de su realidad financiera real hasta una recomendación concreta de ahorro y pago de deudas, en pocos pasos y sin necesidad de conocimientos financieros previos.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576072"/>
            <a:ext cx="13716000" cy="480060"/>
            <a:chOff x="0" y="0"/>
            <a:chExt cx="182880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 · APRENDIZAJES ESPERADOS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987552"/>
            <a:ext cx="16596360" cy="960120"/>
            <a:chOff x="0" y="0"/>
            <a:chExt cx="22128480" cy="1280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¿Qué aprenderemos en este desafío? 🚀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13435" y="2390775"/>
            <a:ext cx="8180070" cy="1459230"/>
            <a:chOff x="0" y="0"/>
            <a:chExt cx="10906760" cy="1945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124712" y="2770632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24712" y="2770632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057400" y="2400300"/>
            <a:ext cx="6652260" cy="1440180"/>
            <a:chOff x="0" y="0"/>
            <a:chExt cx="8869680" cy="1920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Gestión y planificación de proyectos de principio a fin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13435" y="4064127"/>
            <a:ext cx="8180070" cy="1459230"/>
            <a:chOff x="0" y="0"/>
            <a:chExt cx="10906760" cy="1945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24712" y="4443984"/>
            <a:ext cx="685800" cy="685800"/>
            <a:chOff x="0" y="0"/>
            <a:chExt cx="91440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24712" y="4443984"/>
            <a:ext cx="685800" cy="685800"/>
            <a:chOff x="0" y="0"/>
            <a:chExt cx="914400" cy="91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57400" y="4073652"/>
            <a:ext cx="6652260" cy="1440180"/>
            <a:chOff x="0" y="0"/>
            <a:chExt cx="8869680" cy="19202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Aplicación práctica de una metodología ágil (Scrum)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13435" y="5737479"/>
            <a:ext cx="8180070" cy="1459230"/>
            <a:chOff x="0" y="0"/>
            <a:chExt cx="10906760" cy="1945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124712" y="6117336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24712" y="6117336"/>
            <a:ext cx="685800" cy="685800"/>
            <a:chOff x="0" y="0"/>
            <a:chExt cx="914400" cy="9144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057400" y="5747004"/>
            <a:ext cx="6652260" cy="1440180"/>
            <a:chOff x="0" y="0"/>
            <a:chExt cx="8869680" cy="19202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Uso de nuevas herramientas y tecnologías del stack elegido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813435" y="7410831"/>
            <a:ext cx="8180070" cy="1459230"/>
            <a:chOff x="0" y="0"/>
            <a:chExt cx="10906760" cy="1945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124712" y="7790688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124712" y="7790688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057400" y="7420356"/>
            <a:ext cx="6652260" cy="1440180"/>
            <a:chOff x="0" y="0"/>
            <a:chExt cx="8869680" cy="19202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Resolución de un problema real de la fuerza laboral chilena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248775" y="2390775"/>
            <a:ext cx="8180070" cy="1459230"/>
            <a:chOff x="0" y="0"/>
            <a:chExt cx="10906760" cy="1945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560052" y="2770632"/>
            <a:ext cx="685800" cy="685800"/>
            <a:chOff x="0" y="0"/>
            <a:chExt cx="914400" cy="914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560052" y="2770632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492740" y="2400300"/>
            <a:ext cx="6652260" cy="1440180"/>
            <a:chOff x="0" y="0"/>
            <a:chExt cx="8869680" cy="19202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Desarrollo e implementación de una solución informática completa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248775" y="4064127"/>
            <a:ext cx="8180070" cy="1459230"/>
            <a:chOff x="0" y="0"/>
            <a:chExt cx="10906760" cy="19456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560052" y="4443984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9560052" y="4443984"/>
            <a:ext cx="685800" cy="685800"/>
            <a:chOff x="0" y="0"/>
            <a:chExt cx="91440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492740" y="4073652"/>
            <a:ext cx="6652260" cy="1440180"/>
            <a:chOff x="0" y="0"/>
            <a:chExt cx="8869680" cy="19202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Uso de Git y GitHub para control de versiones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248775" y="5737479"/>
            <a:ext cx="8180070" cy="1459230"/>
            <a:chOff x="0" y="0"/>
            <a:chExt cx="10906760" cy="19456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9560052" y="6117336"/>
            <a:ext cx="685800" cy="685800"/>
            <a:chOff x="0" y="0"/>
            <a:chExt cx="914400" cy="9144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9560052" y="6117336"/>
            <a:ext cx="685800" cy="685800"/>
            <a:chOff x="0" y="0"/>
            <a:chExt cx="914400" cy="9144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492740" y="5747004"/>
            <a:ext cx="6652260" cy="1440180"/>
            <a:chOff x="0" y="0"/>
            <a:chExt cx="8869680" cy="192024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Comunicación y presentación efectiva de resultados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248775" y="7410831"/>
            <a:ext cx="8180070" cy="1459230"/>
            <a:chOff x="0" y="0"/>
            <a:chExt cx="10906760" cy="1945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06761" cy="1945640"/>
            </a:xfrm>
            <a:custGeom>
              <a:avLst/>
              <a:gdLst/>
              <a:ahLst/>
              <a:cxnLst/>
              <a:rect r="r" b="b" t="t" l="l"/>
              <a:pathLst>
                <a:path h="1945640" w="10906761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10721467" y="0"/>
                  </a:lnTo>
                  <a:cubicBezTo>
                    <a:pt x="10823829" y="0"/>
                    <a:pt x="10906761" y="82931"/>
                    <a:pt x="10906761" y="185293"/>
                  </a:cubicBezTo>
                  <a:lnTo>
                    <a:pt x="10906761" y="1760347"/>
                  </a:lnTo>
                  <a:cubicBezTo>
                    <a:pt x="10906761" y="1862709"/>
                    <a:pt x="10823829" y="1945640"/>
                    <a:pt x="10721467" y="1945640"/>
                  </a:cubicBezTo>
                  <a:lnTo>
                    <a:pt x="185293" y="1945640"/>
                  </a:lnTo>
                  <a:cubicBezTo>
                    <a:pt x="82931" y="1945640"/>
                    <a:pt x="0" y="1862709"/>
                    <a:pt x="0" y="176034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7EC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560052" y="7790688"/>
            <a:ext cx="685800" cy="685800"/>
            <a:chOff x="0" y="0"/>
            <a:chExt cx="91440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560052" y="7790688"/>
            <a:ext cx="685800" cy="685800"/>
            <a:chOff x="0" y="0"/>
            <a:chExt cx="91440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492740" y="7420356"/>
            <a:ext cx="6652260" cy="1440180"/>
            <a:chOff x="0" y="0"/>
            <a:chExt cx="8869680" cy="19202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869680" cy="1920240"/>
            </a:xfrm>
            <a:custGeom>
              <a:avLst/>
              <a:gdLst/>
              <a:ahLst/>
              <a:cxnLst/>
              <a:rect r="r" b="b" t="t" l="l"/>
              <a:pathLst>
                <a:path h="1920240" w="8869680">
                  <a:moveTo>
                    <a:pt x="0" y="0"/>
                  </a:moveTo>
                  <a:lnTo>
                    <a:pt x="8869680" y="0"/>
                  </a:lnTo>
                  <a:lnTo>
                    <a:pt x="8869680" y="1920240"/>
                  </a:lnTo>
                  <a:lnTo>
                    <a:pt x="0" y="1920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002" r="0" b="-40002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8869680" cy="1958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1B273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Toma de decisiones técnicas de forma autónoma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950440" y="-1920240"/>
            <a:ext cx="6309360" cy="6309360"/>
            <a:chOff x="0" y="0"/>
            <a:chExt cx="8412480" cy="8412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412480" cy="8412480"/>
            </a:xfrm>
            <a:custGeom>
              <a:avLst/>
              <a:gdLst/>
              <a:ahLst/>
              <a:cxnLst/>
              <a:rect r="r" b="b" t="t" l="l"/>
              <a:pathLst>
                <a:path h="8412480" w="8412480">
                  <a:moveTo>
                    <a:pt x="0" y="4206240"/>
                  </a:moveTo>
                  <a:cubicBezTo>
                    <a:pt x="0" y="1883156"/>
                    <a:pt x="1883156" y="0"/>
                    <a:pt x="4206240" y="0"/>
                  </a:cubicBezTo>
                  <a:cubicBezTo>
                    <a:pt x="6529325" y="0"/>
                    <a:pt x="8412480" y="1883156"/>
                    <a:pt x="8412480" y="4206240"/>
                  </a:cubicBezTo>
                  <a:cubicBezTo>
                    <a:pt x="8412480" y="6529325"/>
                    <a:pt x="6529324" y="8412480"/>
                    <a:pt x="4206240" y="8412480"/>
                  </a:cubicBezTo>
                  <a:cubicBezTo>
                    <a:pt x="1883156" y="8412480"/>
                    <a:pt x="0" y="6529324"/>
                    <a:pt x="0" y="4206240"/>
                  </a:cubicBezTo>
                  <a:close/>
                </a:path>
              </a:pathLst>
            </a:custGeom>
            <a:solidFill>
              <a:srgbClr val="065A82">
                <a:alpha val="3019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920240" y="7406640"/>
            <a:ext cx="4937760" cy="4937760"/>
            <a:chOff x="0" y="0"/>
            <a:chExt cx="6583680" cy="6583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1C7293">
                <a:alpha val="20000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102870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8FC1D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 · CONCLUSIÓN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1645920"/>
            <a:ext cx="13030200" cy="2057400"/>
            <a:chOff x="0" y="0"/>
            <a:chExt cx="17373600" cy="2743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7360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2743200"/>
                  </a:lnTo>
                  <a:lnTo>
                    <a:pt x="0" y="2743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405" r="0" b="-73405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7373600" cy="2752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Un faro para quienes</a:t>
              </a:r>
            </a:p>
            <a:p>
              <a:pPr algn="l">
                <a:lnSpc>
                  <a:spcPts val="4860"/>
                </a:lnSpc>
              </a:pPr>
              <a:r>
                <a:rPr lang="en-US" sz="40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 tienen sueldo fijo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3909060"/>
            <a:ext cx="7886700" cy="2125980"/>
            <a:chOff x="0" y="0"/>
            <a:chExt cx="10515600" cy="2834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56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515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332720" y="0"/>
                  </a:lnTo>
                  <a:cubicBezTo>
                    <a:pt x="10433685" y="0"/>
                    <a:pt x="10515600" y="81915"/>
                    <a:pt x="10515600" y="182880"/>
                  </a:cubicBezTo>
                  <a:lnTo>
                    <a:pt x="10515600" y="2651760"/>
                  </a:lnTo>
                  <a:cubicBezTo>
                    <a:pt x="10515600" y="2752725"/>
                    <a:pt x="10433685" y="2834640"/>
                    <a:pt x="1033272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065A82">
                <a:alpha val="72157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77340" y="4114800"/>
            <a:ext cx="7200900" cy="480060"/>
            <a:chOff x="0" y="0"/>
            <a:chExt cx="9601200" cy="640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60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9601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8FC1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¿Por qué es importante?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77340" y="4622292"/>
            <a:ext cx="7200900" cy="1234440"/>
            <a:chOff x="0" y="0"/>
            <a:chExt cx="960120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6012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Porque atiende a una fuerza laboral creciente en Chile que hoy no tiene herramientas financieras pensadas para su realidad.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532620" y="3909060"/>
            <a:ext cx="7886700" cy="2125980"/>
            <a:chOff x="0" y="0"/>
            <a:chExt cx="10515600" cy="2834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56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515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332720" y="0"/>
                  </a:lnTo>
                  <a:cubicBezTo>
                    <a:pt x="10433685" y="0"/>
                    <a:pt x="10515600" y="81915"/>
                    <a:pt x="10515600" y="182880"/>
                  </a:cubicBezTo>
                  <a:lnTo>
                    <a:pt x="10515600" y="2651760"/>
                  </a:lnTo>
                  <a:cubicBezTo>
                    <a:pt x="10515600" y="2752725"/>
                    <a:pt x="10433685" y="2834640"/>
                    <a:pt x="1033272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065A82">
                <a:alpha val="72157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875520" y="4114800"/>
            <a:ext cx="7200900" cy="480060"/>
            <a:chOff x="0" y="0"/>
            <a:chExt cx="9601200" cy="640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0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601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8FC1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¿Qué impacto tendrá?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875520" y="4622292"/>
            <a:ext cx="7200900" cy="1234440"/>
            <a:chOff x="0" y="0"/>
            <a:chExt cx="9601200" cy="1645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6012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Ayudar a prevenir el sobreendeudamiento y fomentar el ahorro mediante educación financiera gratuita.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34440" y="6240780"/>
            <a:ext cx="7886700" cy="2125980"/>
            <a:chOff x="0" y="0"/>
            <a:chExt cx="10515600" cy="2834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156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515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332720" y="0"/>
                  </a:lnTo>
                  <a:cubicBezTo>
                    <a:pt x="10433685" y="0"/>
                    <a:pt x="10515600" y="81915"/>
                    <a:pt x="10515600" y="182880"/>
                  </a:cubicBezTo>
                  <a:lnTo>
                    <a:pt x="10515600" y="2651760"/>
                  </a:lnTo>
                  <a:cubicBezTo>
                    <a:pt x="10515600" y="2752725"/>
                    <a:pt x="10433685" y="2834640"/>
                    <a:pt x="1033272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065A82">
                <a:alpha val="72157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77340" y="6446520"/>
            <a:ext cx="7200900" cy="480060"/>
            <a:chOff x="0" y="0"/>
            <a:chExt cx="960120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60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601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8FC1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¿Qué esperamos lograr?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577340" y="6954012"/>
            <a:ext cx="7200900" cy="1234440"/>
            <a:chOff x="0" y="0"/>
            <a:chExt cx="960120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6012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Una aplicación funcional que integre registro financiero, informes visuales y gestión de deudas.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32620" y="6240780"/>
            <a:ext cx="7886700" cy="2125980"/>
            <a:chOff x="0" y="0"/>
            <a:chExt cx="10515600" cy="2834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156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10515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332720" y="0"/>
                  </a:lnTo>
                  <a:cubicBezTo>
                    <a:pt x="10433685" y="0"/>
                    <a:pt x="10515600" y="81915"/>
                    <a:pt x="10515600" y="182880"/>
                  </a:cubicBezTo>
                  <a:lnTo>
                    <a:pt x="10515600" y="2651760"/>
                  </a:lnTo>
                  <a:cubicBezTo>
                    <a:pt x="10515600" y="2752725"/>
                    <a:pt x="10433685" y="2834640"/>
                    <a:pt x="10332720" y="2834640"/>
                  </a:cubicBezTo>
                  <a:lnTo>
                    <a:pt x="182880" y="2834640"/>
                  </a:lnTo>
                  <a:cubicBezTo>
                    <a:pt x="81915" y="2834640"/>
                    <a:pt x="0" y="2752725"/>
                    <a:pt x="0" y="2651760"/>
                  </a:cubicBezTo>
                  <a:close/>
                </a:path>
              </a:pathLst>
            </a:custGeom>
            <a:solidFill>
              <a:srgbClr val="065A82">
                <a:alpha val="72157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875520" y="6446520"/>
            <a:ext cx="7200900" cy="480060"/>
            <a:chOff x="0" y="0"/>
            <a:chExt cx="9601200" cy="6400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601200" cy="640080"/>
            </a:xfrm>
            <a:custGeom>
              <a:avLst/>
              <a:gdLst/>
              <a:ahLst/>
              <a:cxnLst/>
              <a:rect r="r" b="b" t="t" l="l"/>
              <a:pathLst>
                <a:path h="64008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960120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8FC1D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¿Cuál es el siguiente paso?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875520" y="6954012"/>
            <a:ext cx="7200900" cy="1234440"/>
            <a:chOff x="0" y="0"/>
            <a:chExt cx="9601200" cy="16459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601200" cy="1645920"/>
            </a:xfrm>
            <a:custGeom>
              <a:avLst/>
              <a:gdLst/>
              <a:ahLst/>
              <a:cxnLst/>
              <a:rect r="r" b="b" t="t" l="l"/>
              <a:pathLst>
                <a:path h="164592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601200" cy="1684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E4EFF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Iniciar la Fase 1: levantamiento de requerimientos y diseño de la arquitectura y modelo de base de datos.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85800" y="9820656"/>
            <a:ext cx="10972800" cy="411480"/>
            <a:chOff x="0" y="0"/>
            <a:chExt cx="14630400" cy="5486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630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9601" r="0" b="-46960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14630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9FB3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Financial Beacon — Presentación de Proyecto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145000" y="9820656"/>
            <a:ext cx="548640" cy="411480"/>
            <a:chOff x="0" y="0"/>
            <a:chExt cx="73152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9FB3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DAHT4nUb_6k</dc:identifier>
  <dcterms:modified xsi:type="dcterms:W3CDTF">2011-08-01T06:04:30Z</dcterms:modified>
  <cp:revision>1</cp:revision>
  <dc:title>Financial_Beacon_Presentacion.pptx</dc:title>
</cp:coreProperties>
</file>